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7" r:id="rId4"/>
    <p:sldId id="259" r:id="rId5"/>
    <p:sldId id="260" r:id="rId6"/>
    <p:sldId id="261" r:id="rId7"/>
    <p:sldId id="262" r:id="rId8"/>
    <p:sldId id="268" r:id="rId9"/>
    <p:sldId id="263" r:id="rId10"/>
    <p:sldId id="264" r:id="rId11"/>
    <p:sldId id="269" r:id="rId12"/>
    <p:sldId id="265" r:id="rId13"/>
    <p:sldId id="266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5B303E-A786-DA3A-18DE-DE8D3A0E3E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D1D376A-1653-88CC-E6E1-DED33C2FD8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00AB69-3A3D-AEDE-CEB5-173FB8F60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012CF-30D5-45E8-9C43-19A7D39C36A9}" type="datetimeFigureOut">
              <a:rPr lang="ko-KR" altLang="en-US" smtClean="0"/>
              <a:t>2024-11-23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392B664-BA82-4CB8-6D39-FCC3E6489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C3C06E-EF89-F8A8-78B5-6E2B23801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03C0F-1CC1-46C0-BBE3-7B89800B24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2176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E38689-C50D-97E5-AD3C-7567E9C24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E056C0-D774-9641-328D-00C2441B2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CC1687-B86A-D2A9-A60A-61F01FDFB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012CF-30D5-45E8-9C43-19A7D39C36A9}" type="datetimeFigureOut">
              <a:rPr lang="ko-KR" altLang="en-US" smtClean="0"/>
              <a:t>2024-11-23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E10F34-AE16-F947-B417-C98A680A2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C5CBAF-E19A-A72F-C1AC-90D96E880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03C0F-1CC1-46C0-BBE3-7B89800B24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9570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66E66D-752D-7479-806B-4E024E176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EEEAE4-F745-10D2-8ABB-FFDC07786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2C83DE-F74C-BB38-E599-2C2E3AF25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012CF-30D5-45E8-9C43-19A7D39C36A9}" type="datetimeFigureOut">
              <a:rPr lang="ko-KR" altLang="en-US" smtClean="0"/>
              <a:t>2024-11-23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BCD0C4-7F58-449D-7F53-F0438AC71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06F651-80B5-A05D-E33B-678E36E82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03C0F-1CC1-46C0-BBE3-7B89800B24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5801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BA4296-08AD-7F4E-2115-DCA01131F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AF4432-DD9C-A4FD-B296-08E1E41E32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B1BBB1-29CD-3AEE-B739-6C2BAF5BDC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0707AB5-88F8-ADE9-934B-ED823D80A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012CF-30D5-45E8-9C43-19A7D39C36A9}" type="datetimeFigureOut">
              <a:rPr lang="ko-KR" altLang="en-US" smtClean="0"/>
              <a:t>2024-11-23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6250679-DF4D-E39F-E073-A4E6CA3CC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ADEACE4-0B04-7708-F3B9-1641CA637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03C0F-1CC1-46C0-BBE3-7B89800B24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4272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E3F1BD-2822-893B-D129-E3412E3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3B54971-3E49-260C-EB7D-1DDC7C8320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D35504-0661-6226-5305-7C924B784F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1961ADB-D750-35BF-F127-E0D6B5D334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FE8716D-3855-B2DF-1F50-B6D857B506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375FD03-9908-FF8F-95E4-BFC8084C7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012CF-30D5-45E8-9C43-19A7D39C36A9}" type="datetimeFigureOut">
              <a:rPr lang="ko-KR" altLang="en-US" smtClean="0"/>
              <a:t>2024-11-23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1B79A58-3DF8-C609-939B-4B6627AD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6B9556B-2D03-2FDB-03BB-9C37D867B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03C0F-1CC1-46C0-BBE3-7B89800B24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9102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104D81-D5B8-676F-3F87-01171120F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07C776F-F2C2-8A7F-1304-E08936949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012CF-30D5-45E8-9C43-19A7D39C36A9}" type="datetimeFigureOut">
              <a:rPr lang="ko-KR" altLang="en-US" smtClean="0"/>
              <a:t>2024-11-23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F77B2B2-4C77-797A-3D9A-80267DA0B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DF9FB97-8753-E65F-CB10-4E4C690CE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03C0F-1CC1-46C0-BBE3-7B89800B24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4089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1C19067-770A-9641-9248-906DCEB49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012CF-30D5-45E8-9C43-19A7D39C36A9}" type="datetimeFigureOut">
              <a:rPr lang="ko-KR" altLang="en-US" smtClean="0"/>
              <a:t>2024-11-23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F8D2598-1DAC-8E14-3321-7C9D082ED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621D85-35A4-9518-47C5-5587D2901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03C0F-1CC1-46C0-BBE3-7B89800B24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874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EFF507-A94E-8AA3-18C3-3846272B2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7BE3B3-FC49-185F-7BBB-19DC111C90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52CC2F6-C3B0-97A2-E2A5-70B22A339E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847CDC4-5BC2-B022-7E32-3D5FD3CDD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012CF-30D5-45E8-9C43-19A7D39C36A9}" type="datetimeFigureOut">
              <a:rPr lang="ko-KR" altLang="en-US" smtClean="0"/>
              <a:t>2024-11-23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6B0E516-0ADF-6FF5-52D5-527F87EA0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1E49D0-D7B8-E65E-E95E-3D37F3D97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03C0F-1CC1-46C0-BBE3-7B89800B24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7424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90B3A6-8107-BAC4-FBE5-5937F922F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4041440-8597-FFDA-2110-3557A50BB1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760881C-64EE-CDE1-8DF6-AF03B63556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765939C-C655-0927-0236-EA9F0475D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012CF-30D5-45E8-9C43-19A7D39C36A9}" type="datetimeFigureOut">
              <a:rPr lang="ko-KR" altLang="en-US" smtClean="0"/>
              <a:t>2024-11-23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A77EA44-00C1-EA44-1016-0D9C8DE47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070C520-6838-27ED-D50E-86C361058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03C0F-1CC1-46C0-BBE3-7B89800B24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4918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ECF3CD-0B71-7828-2833-4AFFC495F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F30FE10-0D55-13CF-EB9B-3360B1C194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F6C1E0-9FAA-4BCF-77FC-4EE474DF6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012CF-30D5-45E8-9C43-19A7D39C36A9}" type="datetimeFigureOut">
              <a:rPr lang="ko-KR" altLang="en-US" smtClean="0"/>
              <a:t>2024-11-23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644B05-4499-2FB0-5D97-D5C344C1A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8ED445-C5C2-E64A-0B7D-699EC4B04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03C0F-1CC1-46C0-BBE3-7B89800B24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0133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07C3E82-A97B-D972-EC53-A469EA7F46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599F516-787A-3597-1B36-AFD229A4E3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4F4F0C-8718-0B46-7F9C-9EBAD68BF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012CF-30D5-45E8-9C43-19A7D39C36A9}" type="datetimeFigureOut">
              <a:rPr lang="ko-KR" altLang="en-US" smtClean="0"/>
              <a:t>2024-11-23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60A731-AECE-7219-FEF3-E3C865012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B11A5B-C981-945B-5CBF-C82A06E90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03C0F-1CC1-46C0-BBE3-7B89800B24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409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CF120E2-89C1-02C2-F1C4-96BE823A4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6E2469-2499-434F-D75A-96A5B53C8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FD3AF9-86D7-7240-14E3-E76739660F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7012CF-30D5-45E8-9C43-19A7D39C36A9}" type="datetimeFigureOut">
              <a:rPr lang="ko-KR" altLang="en-US" smtClean="0"/>
              <a:t>2024-11-23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7444DA-DCFC-7212-FBA4-088D40C6C2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FEDA98-AA3D-52A0-F798-F99E6CE0DC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C03C0F-1CC1-46C0-BBE3-7B89800B24F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927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24698-D3E1-A0B7-7DC2-9846067BA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5879C02-F592-9857-5E5E-499CAA98266F}"/>
              </a:ext>
            </a:extLst>
          </p:cNvPr>
          <p:cNvSpPr txBox="1"/>
          <p:nvPr/>
        </p:nvSpPr>
        <p:spPr>
          <a:xfrm>
            <a:off x="166255" y="175491"/>
            <a:ext cx="5568281" cy="4161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800" b="1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Firebase </a:t>
            </a:r>
            <a:r>
              <a:rPr lang="ko-KR" altLang="en-US" sz="2800" b="1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함초롬바탕" panose="02030604000101010101" pitchFamily="18" charset="-127"/>
                <a:cs typeface="ADLaM Display" panose="02010000000000000000" pitchFamily="2" charset="0"/>
              </a:rPr>
              <a:t>앱 로그 기반 데이터 분석 </a:t>
            </a:r>
            <a:endParaRPr lang="en-US" altLang="ko-KR" sz="2800" b="1" kern="0" spc="0" dirty="0">
              <a:solidFill>
                <a:srgbClr val="000000"/>
              </a:solidFill>
              <a:effectLst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ko-KR" altLang="en-US" sz="1800" kern="0" spc="0" dirty="0">
              <a:solidFill>
                <a:srgbClr val="000000"/>
              </a:solidFill>
              <a:effectLst/>
              <a:latin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함초롬바탕" panose="02030604000101010101" pitchFamily="18" charset="-127"/>
                <a:cs typeface="ADLaM Display" panose="02010000000000000000" pitchFamily="2" charset="0"/>
              </a:rPr>
              <a:t>다룰 데이터는 음식 앱의 데이터입니다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 </a:t>
            </a: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Google </a:t>
            </a:r>
            <a:r>
              <a:rPr lang="en-US" altLang="ko-KR" sz="1800" kern="0" spc="0" dirty="0" err="1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BigQuery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함초롬바탕" panose="02030604000101010101" pitchFamily="18" charset="-127"/>
                <a:cs typeface="ADLaM Display" panose="02010000000000000000" pitchFamily="2" charset="0"/>
              </a:rPr>
              <a:t>를 사용해 유저 로그 데이터에서 여러가지 시각화를 추출</a:t>
            </a:r>
            <a:r>
              <a:rPr lang="en-US" altLang="ko-KR" kern="0" dirty="0">
                <a:solidFill>
                  <a:srgbClr val="0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함초롬바탕" panose="02030604000101010101" pitchFamily="18" charset="-127"/>
                <a:cs typeface="ADLaM Display" panose="02010000000000000000" pitchFamily="2" charset="0"/>
              </a:rPr>
              <a:t> 분석해 보았습니다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800" kern="0" spc="0" dirty="0">
              <a:solidFill>
                <a:srgbClr val="000000"/>
              </a:solidFill>
              <a:effectLst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kern="0" dirty="0">
              <a:solidFill>
                <a:srgbClr val="00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데이터 원본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 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ko-KR" altLang="en-US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3" name="그림 2" descr="텍스트, 스크린샷, 번호, 폰트이(가) 표시된 사진&#10;&#10;자동 생성된 설명">
            <a:extLst>
              <a:ext uri="{FF2B5EF4-FFF2-40B4-BE49-F238E27FC236}">
                <a16:creationId xmlns:a16="http://schemas.microsoft.com/office/drawing/2014/main" id="{4372D2E5-180D-2DBB-B011-21E2E85FCE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8920" y="427725"/>
            <a:ext cx="5072258" cy="2579310"/>
          </a:xfrm>
          <a:prstGeom prst="rect">
            <a:avLst/>
          </a:prstGeom>
        </p:spPr>
      </p:pic>
      <p:pic>
        <p:nvPicPr>
          <p:cNvPr id="6" name="그림 5" descr="텍스트, 번호, 폰트, 라인이(가) 표시된 사진&#10;&#10;자동 생성된 설명">
            <a:extLst>
              <a:ext uri="{FF2B5EF4-FFF2-40B4-BE49-F238E27FC236}">
                <a16:creationId xmlns:a16="http://schemas.microsoft.com/office/drawing/2014/main" id="{C88937C4-7DDA-A111-1EE8-11542EB555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4097" y="3196380"/>
            <a:ext cx="7600390" cy="3486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767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6E46D-CB64-7F55-7129-35489CF6E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24B188C-D1EB-9AA1-FEE3-062BF0C20255}"/>
              </a:ext>
            </a:extLst>
          </p:cNvPr>
          <p:cNvSpPr txBox="1"/>
          <p:nvPr/>
        </p:nvSpPr>
        <p:spPr>
          <a:xfrm>
            <a:off x="166255" y="175491"/>
            <a:ext cx="11859490" cy="3274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800" b="1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Firebase </a:t>
            </a:r>
            <a:r>
              <a:rPr lang="ko-KR" altLang="en-US" sz="2800" b="1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함초롬바탕" panose="02030604000101010101" pitchFamily="18" charset="-127"/>
                <a:cs typeface="ADLaM Display" panose="02010000000000000000" pitchFamily="2" charset="0"/>
              </a:rPr>
              <a:t>앱 로그 기반 데이터 분석 </a:t>
            </a:r>
            <a:endParaRPr lang="en-US" altLang="ko-KR" sz="2800" b="1" kern="0" spc="0" dirty="0">
              <a:solidFill>
                <a:srgbClr val="000000"/>
              </a:solidFill>
              <a:effectLst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&lt;1. </a:t>
            </a:r>
            <a:r>
              <a:rPr lang="ko-KR" altLang="en-US" sz="1800" kern="0" spc="0" dirty="0" err="1">
                <a:solidFill>
                  <a:srgbClr val="000000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퍼널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 분석</a:t>
            </a:r>
            <a:r>
              <a:rPr lang="en-US" altLang="ko-KR" kern="0" dirty="0">
                <a:solidFill>
                  <a:srgbClr val="0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&gt;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ADLaM Display" panose="02010000000000000000" pitchFamily="2" charset="0"/>
              <a:cs typeface="ADLaM Display" panose="02010000000000000000" pitchFamily="2" charset="0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Welcome -&gt; Home -&gt; Food Category -&gt; Restaurant -&gt; Cart -&gt; </a:t>
            </a:r>
            <a:r>
              <a:rPr lang="ko-KR" altLang="en-US" kern="0" dirty="0">
                <a:solidFill>
                  <a:srgbClr val="000000"/>
                </a:solidFill>
                <a:latin typeface="ADLaM Display" panose="02010000000000000000" pitchFamily="2" charset="0"/>
                <a:ea typeface="함초롬바탕" panose="02030604000101010101" pitchFamily="18" charset="-127"/>
                <a:cs typeface="ADLaM Display" panose="02010000000000000000" pitchFamily="2" charset="0"/>
              </a:rPr>
              <a:t>주문하기 클릭 순으로 각 </a:t>
            </a:r>
            <a:r>
              <a:rPr lang="ko-KR" altLang="en-US" kern="0" dirty="0" err="1">
                <a:solidFill>
                  <a:srgbClr val="000000"/>
                </a:solidFill>
                <a:latin typeface="ADLaM Display" panose="02010000000000000000" pitchFamily="2" charset="0"/>
                <a:ea typeface="함초롬바탕" panose="02030604000101010101" pitchFamily="18" charset="-127"/>
                <a:cs typeface="ADLaM Display" panose="02010000000000000000" pitchFamily="2" charset="0"/>
              </a:rPr>
              <a:t>퍼널의</a:t>
            </a:r>
            <a:r>
              <a:rPr lang="ko-KR" altLang="en-US" kern="0" dirty="0">
                <a:solidFill>
                  <a:srgbClr val="000000"/>
                </a:solidFill>
                <a:latin typeface="ADLaM Display" panose="02010000000000000000" pitchFamily="2" charset="0"/>
                <a:ea typeface="함초롬바탕" panose="02030604000101010101" pitchFamily="18" charset="-127"/>
                <a:cs typeface="ADLaM Display" panose="02010000000000000000" pitchFamily="2" charset="0"/>
              </a:rPr>
              <a:t> 유저 수를 집계</a:t>
            </a:r>
            <a:endParaRPr lang="en-US" altLang="ko-KR" kern="0" dirty="0">
              <a:solidFill>
                <a:srgbClr val="00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kern="0" dirty="0">
              <a:solidFill>
                <a:srgbClr val="00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800" kern="0" spc="0" dirty="0">
              <a:solidFill>
                <a:srgbClr val="000000"/>
              </a:solidFill>
              <a:effectLst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kern="0" dirty="0">
                <a:solidFill>
                  <a:srgbClr val="000000"/>
                </a:solidFill>
                <a:latin typeface="ADLaM Display" panose="02010000000000000000" pitchFamily="2" charset="0"/>
                <a:ea typeface="함초롬바탕" panose="02030604000101010101" pitchFamily="18" charset="-127"/>
                <a:cs typeface="ADLaM Display" panose="02010000000000000000" pitchFamily="2" charset="0"/>
              </a:rPr>
              <a:t>데이터 </a:t>
            </a:r>
            <a:r>
              <a:rPr lang="en-US" altLang="ko-KR" kern="0" dirty="0">
                <a:solidFill>
                  <a:srgbClr val="0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 2022-08-01 ~ 2022-08-18</a:t>
            </a:r>
            <a:endParaRPr lang="en-US" altLang="ko-KR" sz="1800" kern="0" spc="0" dirty="0">
              <a:solidFill>
                <a:srgbClr val="000000"/>
              </a:solidFill>
              <a:effectLst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ko-KR" altLang="en-US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315841-A440-8564-1F3F-0835E8A4B195}"/>
              </a:ext>
            </a:extLst>
          </p:cNvPr>
          <p:cNvSpPr txBox="1"/>
          <p:nvPr/>
        </p:nvSpPr>
        <p:spPr>
          <a:xfrm>
            <a:off x="166255" y="1838036"/>
            <a:ext cx="87560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screen_view</a:t>
            </a:r>
            <a:r>
              <a:rPr lang="en-US" altLang="ko-KR" sz="9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(welcome)     </a:t>
            </a:r>
            <a:r>
              <a:rPr lang="en-US" altLang="ko-KR" sz="9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screen_view</a:t>
            </a:r>
            <a:r>
              <a:rPr lang="en-US" altLang="ko-KR" sz="9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(home)    </a:t>
            </a:r>
            <a:r>
              <a:rPr lang="en-US" altLang="ko-KR" sz="9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screen_view</a:t>
            </a:r>
            <a:r>
              <a:rPr lang="en-US" altLang="ko-KR" sz="9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</a:t>
            </a:r>
            <a:r>
              <a:rPr lang="en-US" altLang="ko-KR" sz="9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food_category</a:t>
            </a:r>
            <a:r>
              <a:rPr lang="en-US" altLang="ko-KR" sz="9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)             </a:t>
            </a:r>
            <a:r>
              <a:rPr lang="en-US" altLang="ko-KR" sz="9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screen_view</a:t>
            </a:r>
            <a:r>
              <a:rPr lang="en-US" altLang="ko-KR" sz="9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</a:t>
            </a:r>
            <a:r>
              <a:rPr lang="en-US" altLang="ko-KR" sz="9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restaurank</a:t>
            </a:r>
            <a:r>
              <a:rPr lang="en-US" altLang="ko-KR" sz="9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)       </a:t>
            </a:r>
            <a:r>
              <a:rPr lang="en-US" altLang="ko-KR" sz="9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screen_view</a:t>
            </a:r>
            <a:r>
              <a:rPr lang="en-US" altLang="ko-KR" sz="9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(cart)       </a:t>
            </a:r>
            <a:r>
              <a:rPr lang="en-US" altLang="ko-KR" sz="9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click_payment</a:t>
            </a:r>
            <a:r>
              <a:rPr lang="en-US" altLang="ko-KR" sz="9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(cart)</a:t>
            </a:r>
            <a:endParaRPr lang="ko-KR" altLang="en-US" sz="900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7" name="그림 6" descr="텍스트, 스크린샷, 인간의 얼굴, 온라인 광고이(가) 표시된 사진&#10;&#10;자동 생성된 설명">
            <a:extLst>
              <a:ext uri="{FF2B5EF4-FFF2-40B4-BE49-F238E27FC236}">
                <a16:creationId xmlns:a16="http://schemas.microsoft.com/office/drawing/2014/main" id="{59657045-E364-6702-9133-DC6DA57A28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7671" y="3136200"/>
            <a:ext cx="4535968" cy="2831544"/>
          </a:xfrm>
          <a:prstGeom prst="rect">
            <a:avLst/>
          </a:prstGeom>
        </p:spPr>
      </p:pic>
      <p:pic>
        <p:nvPicPr>
          <p:cNvPr id="9" name="그림 8" descr="텍스트, 스크린샷, 웹사이트, 웹 페이지이(가) 표시된 사진&#10;&#10;자동 생성된 설명">
            <a:extLst>
              <a:ext uri="{FF2B5EF4-FFF2-40B4-BE49-F238E27FC236}">
                <a16:creationId xmlns:a16="http://schemas.microsoft.com/office/drawing/2014/main" id="{ACE65E00-AE37-07E5-BAA1-63DD6C0907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3639" y="3067454"/>
            <a:ext cx="4639117" cy="2969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23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CCC44-95DB-9042-8B72-75EFFC2C0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FD86E9-DB52-4CCE-3DED-4830E4196F95}"/>
              </a:ext>
            </a:extLst>
          </p:cNvPr>
          <p:cNvSpPr txBox="1"/>
          <p:nvPr/>
        </p:nvSpPr>
        <p:spPr>
          <a:xfrm>
            <a:off x="166255" y="175491"/>
            <a:ext cx="11859490" cy="1501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800" b="1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Firebase </a:t>
            </a:r>
            <a:r>
              <a:rPr lang="ko-KR" altLang="en-US" sz="2800" b="1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함초롬바탕" panose="02030604000101010101" pitchFamily="18" charset="-127"/>
                <a:cs typeface="ADLaM Display" panose="02010000000000000000" pitchFamily="2" charset="0"/>
              </a:rPr>
              <a:t>앱 로그 기반 데이터 분석 </a:t>
            </a:r>
            <a:endParaRPr lang="en-US" altLang="ko-KR" sz="2800" b="1" kern="0" spc="0" dirty="0">
              <a:solidFill>
                <a:srgbClr val="000000"/>
              </a:solidFill>
              <a:effectLst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&lt;1. </a:t>
            </a:r>
            <a:r>
              <a:rPr lang="ko-KR" altLang="en-US" sz="1800" kern="0" spc="0" dirty="0" err="1">
                <a:solidFill>
                  <a:srgbClr val="000000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퍼널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 분석 쿼리</a:t>
            </a:r>
            <a:r>
              <a:rPr lang="en-US" altLang="ko-KR" kern="0" dirty="0">
                <a:solidFill>
                  <a:srgbClr val="0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&gt;</a:t>
            </a:r>
            <a:endParaRPr lang="en-US" altLang="ko-KR" sz="1800" kern="0" spc="0" dirty="0">
              <a:solidFill>
                <a:srgbClr val="000000"/>
              </a:solidFill>
              <a:effectLst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ko-KR" altLang="en-US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DBCF1A-B942-35FC-48D2-4DC6D4E0168F}"/>
              </a:ext>
            </a:extLst>
          </p:cNvPr>
          <p:cNvSpPr txBox="1"/>
          <p:nvPr/>
        </p:nvSpPr>
        <p:spPr>
          <a:xfrm>
            <a:off x="166255" y="1263432"/>
            <a:ext cx="87560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screen_view</a:t>
            </a:r>
            <a:r>
              <a:rPr lang="en-US" altLang="ko-KR" sz="9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(welcome)     </a:t>
            </a:r>
            <a:r>
              <a:rPr lang="en-US" altLang="ko-KR" sz="9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screen_view</a:t>
            </a:r>
            <a:r>
              <a:rPr lang="en-US" altLang="ko-KR" sz="9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(home)    </a:t>
            </a:r>
            <a:r>
              <a:rPr lang="en-US" altLang="ko-KR" sz="9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screen_view</a:t>
            </a:r>
            <a:r>
              <a:rPr lang="en-US" altLang="ko-KR" sz="9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</a:t>
            </a:r>
            <a:r>
              <a:rPr lang="en-US" altLang="ko-KR" sz="9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food_category</a:t>
            </a:r>
            <a:r>
              <a:rPr lang="en-US" altLang="ko-KR" sz="9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)             </a:t>
            </a:r>
            <a:r>
              <a:rPr lang="en-US" altLang="ko-KR" sz="9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screen_view</a:t>
            </a:r>
            <a:r>
              <a:rPr lang="en-US" altLang="ko-KR" sz="9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</a:t>
            </a:r>
            <a:r>
              <a:rPr lang="en-US" altLang="ko-KR" sz="9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restaurank</a:t>
            </a:r>
            <a:r>
              <a:rPr lang="en-US" altLang="ko-KR" sz="9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)       </a:t>
            </a:r>
            <a:r>
              <a:rPr lang="en-US" altLang="ko-KR" sz="9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screen_view</a:t>
            </a:r>
            <a:r>
              <a:rPr lang="en-US" altLang="ko-KR" sz="9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(cart)       </a:t>
            </a:r>
            <a:r>
              <a:rPr lang="en-US" altLang="ko-KR" sz="9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click_payment</a:t>
            </a:r>
            <a:r>
              <a:rPr lang="en-US" altLang="ko-KR" sz="9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(cart)</a:t>
            </a:r>
            <a:endParaRPr lang="ko-KR" altLang="en-US" sz="900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5" name="그림 4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4656810B-9AD5-1BF2-319E-31E7D023B9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797" y="1531573"/>
            <a:ext cx="3743331" cy="3091908"/>
          </a:xfrm>
          <a:prstGeom prst="rect">
            <a:avLst/>
          </a:prstGeom>
        </p:spPr>
      </p:pic>
      <p:pic>
        <p:nvPicPr>
          <p:cNvPr id="8" name="그림 7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ABF65125-4887-04A9-2F2B-2F6F597EA6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0494" y="1494265"/>
            <a:ext cx="3186213" cy="2939190"/>
          </a:xfrm>
          <a:prstGeom prst="rect">
            <a:avLst/>
          </a:prstGeom>
        </p:spPr>
      </p:pic>
      <p:pic>
        <p:nvPicPr>
          <p:cNvPr id="11" name="그림 10" descr="텍스트, 폰트, 스크린샷이(가) 표시된 사진&#10;&#10;자동 생성된 설명">
            <a:extLst>
              <a:ext uri="{FF2B5EF4-FFF2-40B4-BE49-F238E27FC236}">
                <a16:creationId xmlns:a16="http://schemas.microsoft.com/office/drawing/2014/main" id="{C0AE261B-373D-B92F-4312-A87A6AB645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797" y="4687339"/>
            <a:ext cx="9356435" cy="1995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977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1FBC4-9F05-FCE2-8C39-CAD9677DF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140089E-277D-5215-3287-0226C20BF847}"/>
              </a:ext>
            </a:extLst>
          </p:cNvPr>
          <p:cNvSpPr txBox="1"/>
          <p:nvPr/>
        </p:nvSpPr>
        <p:spPr>
          <a:xfrm>
            <a:off x="166255" y="175491"/>
            <a:ext cx="10603345" cy="2388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800" b="1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Firebase </a:t>
            </a:r>
            <a:r>
              <a:rPr lang="ko-KR" altLang="en-US" sz="2800" b="1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함초롬바탕" panose="02030604000101010101" pitchFamily="18" charset="-127"/>
                <a:cs typeface="ADLaM Display" panose="02010000000000000000" pitchFamily="2" charset="0"/>
              </a:rPr>
              <a:t>앱 로그 기반 데이터 분석 </a:t>
            </a:r>
            <a:endParaRPr lang="en-US" altLang="ko-KR" sz="2800" b="1" kern="0" spc="0" dirty="0">
              <a:solidFill>
                <a:srgbClr val="000000"/>
              </a:solidFill>
              <a:effectLst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&lt;1. </a:t>
            </a:r>
            <a:r>
              <a:rPr lang="ko-KR" altLang="en-US" sz="1800" kern="0" spc="0" dirty="0" err="1">
                <a:solidFill>
                  <a:srgbClr val="000000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퍼널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 분석 시각화</a:t>
            </a:r>
            <a:r>
              <a:rPr lang="en-US" altLang="ko-KR" kern="0" dirty="0">
                <a:solidFill>
                  <a:srgbClr val="0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&gt;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kern="0" dirty="0">
              <a:solidFill>
                <a:srgbClr val="00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kern="0" dirty="0">
                <a:solidFill>
                  <a:srgbClr val="0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위 </a:t>
            </a:r>
            <a:r>
              <a:rPr lang="en-US" altLang="ko-KR" kern="0" dirty="0">
                <a:solidFill>
                  <a:srgbClr val="0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SQL </a:t>
            </a:r>
            <a:r>
              <a:rPr lang="ko-KR" altLang="en-US" kern="0" dirty="0">
                <a:solidFill>
                  <a:srgbClr val="000000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쿼리를 통해 일자별 </a:t>
            </a:r>
            <a:r>
              <a:rPr lang="ko-KR" altLang="en-US" kern="0" dirty="0" err="1">
                <a:solidFill>
                  <a:srgbClr val="000000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퍼널</a:t>
            </a:r>
            <a:r>
              <a:rPr lang="ko-KR" altLang="en-US" kern="0" dirty="0">
                <a:solidFill>
                  <a:srgbClr val="000000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 집계한 결과를 스프레드 시트로 시각화</a:t>
            </a:r>
            <a:endParaRPr lang="en-US" altLang="ko-KR" kern="0" dirty="0">
              <a:solidFill>
                <a:srgbClr val="00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ko-KR" altLang="en-US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5" name="그림 4" descr="텍스트, 번호, 스크린샷, 폰트이(가) 표시된 사진&#10;&#10;자동 생성된 설명">
            <a:extLst>
              <a:ext uri="{FF2B5EF4-FFF2-40B4-BE49-F238E27FC236}">
                <a16:creationId xmlns:a16="http://schemas.microsoft.com/office/drawing/2014/main" id="{833F3589-17B9-B702-A1C2-16CD970216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0438" y="135650"/>
            <a:ext cx="3666836" cy="2185678"/>
          </a:xfrm>
          <a:prstGeom prst="rect">
            <a:avLst/>
          </a:prstGeom>
        </p:spPr>
      </p:pic>
      <p:pic>
        <p:nvPicPr>
          <p:cNvPr id="8" name="그림 7" descr="텍스트, 도표, 그래프, 라인이(가) 표시된 사진&#10;&#10;자동 생성된 설명">
            <a:extLst>
              <a:ext uri="{FF2B5EF4-FFF2-40B4-BE49-F238E27FC236}">
                <a16:creationId xmlns:a16="http://schemas.microsoft.com/office/drawing/2014/main" id="{E5869425-2645-C5B4-E43F-AD795A7F95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244" y="2909065"/>
            <a:ext cx="4810071" cy="2968088"/>
          </a:xfrm>
          <a:prstGeom prst="rect">
            <a:avLst/>
          </a:prstGeom>
        </p:spPr>
      </p:pic>
      <p:pic>
        <p:nvPicPr>
          <p:cNvPr id="10" name="그림 9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42BF6F7A-3DBC-62A6-5440-2CBC673E59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4252" y="1501381"/>
            <a:ext cx="2230695" cy="1238515"/>
          </a:xfrm>
          <a:prstGeom prst="rect">
            <a:avLst/>
          </a:prstGeom>
        </p:spPr>
      </p:pic>
      <p:pic>
        <p:nvPicPr>
          <p:cNvPr id="12" name="그림 11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C7923B97-E4B9-04FD-5666-A4A972A158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1912" y="3012788"/>
            <a:ext cx="6914843" cy="2968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760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AA517-6DAC-0F83-A6FB-A78E8B3D7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8A7111D-06D7-7B97-DD2A-6BE631D19D73}"/>
              </a:ext>
            </a:extLst>
          </p:cNvPr>
          <p:cNvSpPr txBox="1"/>
          <p:nvPr/>
        </p:nvSpPr>
        <p:spPr>
          <a:xfrm>
            <a:off x="166255" y="175491"/>
            <a:ext cx="11695845" cy="322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800" b="1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Firebase </a:t>
            </a:r>
            <a:r>
              <a:rPr lang="ko-KR" altLang="en-US" sz="2800" b="1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함초롬바탕" panose="02030604000101010101" pitchFamily="18" charset="-127"/>
                <a:cs typeface="ADLaM Display" panose="02010000000000000000" pitchFamily="2" charset="0"/>
              </a:rPr>
              <a:t>앱 로그 기반 데이터 분석 </a:t>
            </a:r>
            <a:endParaRPr lang="en-US" altLang="ko-KR" sz="2800" b="1" kern="0" spc="0" dirty="0">
              <a:solidFill>
                <a:srgbClr val="000000"/>
              </a:solidFill>
              <a:effectLst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&lt;1. </a:t>
            </a:r>
            <a:r>
              <a:rPr lang="ko-KR" altLang="en-US" sz="1800" kern="0" spc="0" dirty="0" err="1">
                <a:solidFill>
                  <a:srgbClr val="000000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퍼널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 분석 해석</a:t>
            </a:r>
            <a:r>
              <a:rPr lang="en-US" altLang="ko-KR" kern="0" dirty="0">
                <a:solidFill>
                  <a:srgbClr val="0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&gt;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endParaRPr lang="en-US" altLang="ko-KR" sz="1400" kern="0" dirty="0">
              <a:solidFill>
                <a:srgbClr val="00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400" b="1" kern="0" dirty="0" err="1">
                <a:solidFill>
                  <a:srgbClr val="000000"/>
                </a:solidFill>
                <a:latin typeface="ADLaM Display" panose="02010000000000000000" pitchFamily="2" charset="0"/>
                <a:ea typeface="함초롬바탕" panose="02030604000101010101" pitchFamily="18" charset="-127"/>
                <a:cs typeface="ADLaM Display" panose="02010000000000000000" pitchFamily="2" charset="0"/>
              </a:rPr>
              <a:t>퍼널</a:t>
            </a:r>
            <a:r>
              <a:rPr lang="ko-KR" altLang="en-US" sz="1400" b="1" kern="0" dirty="0">
                <a:solidFill>
                  <a:srgbClr val="000000"/>
                </a:solidFill>
                <a:latin typeface="ADLaM Display" panose="02010000000000000000" pitchFamily="2" charset="0"/>
                <a:ea typeface="함초롬바탕" panose="02030604000101010101" pitchFamily="18" charset="-127"/>
                <a:cs typeface="ADLaM Display" panose="02010000000000000000" pitchFamily="2" charset="0"/>
              </a:rPr>
              <a:t> 데이터 해석하기</a:t>
            </a:r>
            <a:endParaRPr lang="en-US" altLang="ko-KR" sz="1400" b="1" kern="0" spc="0" dirty="0">
              <a:solidFill>
                <a:srgbClr val="000000"/>
              </a:solidFill>
              <a:effectLst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285750" marR="0" indent="-28575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Home to </a:t>
            </a:r>
            <a:r>
              <a:rPr lang="en-US" altLang="ko-KR" sz="1400" kern="0" spc="0" dirty="0" err="1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food_category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: 1742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명 이탈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</a:t>
            </a:r>
            <a:r>
              <a:rPr lang="ko-KR" altLang="en-US" sz="1400" kern="0" dirty="0">
                <a:solidFill>
                  <a:srgbClr val="000000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직전 대비 </a:t>
            </a:r>
            <a:r>
              <a:rPr lang="en-US" altLang="ko-KR" sz="1400" kern="0" dirty="0">
                <a:solidFill>
                  <a:srgbClr val="0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55% </a:t>
            </a:r>
            <a:r>
              <a:rPr lang="ko-KR" altLang="en-US" sz="1400" kern="0" dirty="0">
                <a:solidFill>
                  <a:srgbClr val="000000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이탈 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)</a:t>
            </a:r>
          </a:p>
          <a:p>
            <a:pPr marL="285750" marR="0" indent="-28575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Restaurant -&gt; cart : 601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명 이탈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직전 대비 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49% </a:t>
            </a:r>
            <a:r>
              <a:rPr lang="ko-KR" altLang="en-US" sz="1400" kern="0" dirty="0">
                <a:solidFill>
                  <a:srgbClr val="000000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이탈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)</a:t>
            </a:r>
          </a:p>
          <a:p>
            <a:pPr marL="285750" marR="0" indent="-28575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cart -&gt; </a:t>
            </a:r>
            <a:r>
              <a:rPr lang="en-US" altLang="ko-KR" sz="1400" kern="0" spc="0" dirty="0" err="1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click_payment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: 226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명 이탈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직전 대비 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37% 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이탈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)</a:t>
            </a:r>
            <a:endParaRPr lang="ko-KR" altLang="en-US" sz="1400" kern="0" spc="0" dirty="0">
              <a:solidFill>
                <a:srgbClr val="000000"/>
              </a:solidFill>
              <a:effectLst/>
              <a:latin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ko-KR" altLang="en-US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7" name="그림 6" descr="텍스트, 번호, 스크린샷, 폰트이(가) 표시된 사진&#10;&#10;자동 생성된 설명">
            <a:extLst>
              <a:ext uri="{FF2B5EF4-FFF2-40B4-BE49-F238E27FC236}">
                <a16:creationId xmlns:a16="http://schemas.microsoft.com/office/drawing/2014/main" id="{64A68607-A3C2-747C-2210-5C88CB2F04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387" y="439678"/>
            <a:ext cx="4174448" cy="2488249"/>
          </a:xfrm>
          <a:prstGeom prst="rect">
            <a:avLst/>
          </a:prstGeom>
        </p:spPr>
      </p:pic>
      <p:pic>
        <p:nvPicPr>
          <p:cNvPr id="8" name="그림 7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1FD1E549-96A2-D72D-04E4-3F828386E0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700" y="3555500"/>
            <a:ext cx="6227918" cy="26732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AD83C0A-B251-64DF-522E-5379566B424B}"/>
              </a:ext>
            </a:extLst>
          </p:cNvPr>
          <p:cNvSpPr txBox="1"/>
          <p:nvPr/>
        </p:nvSpPr>
        <p:spPr>
          <a:xfrm>
            <a:off x="166255" y="3429000"/>
            <a:ext cx="5190836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 err="1">
                <a:latin typeface="ADLaM Display" panose="02010000000000000000" pitchFamily="2" charset="0"/>
                <a:cs typeface="ADLaM Display" panose="02010000000000000000" pitchFamily="2" charset="0"/>
              </a:rPr>
              <a:t>퍼널</a:t>
            </a:r>
            <a:r>
              <a:rPr lang="ko-KR" altLang="en-US" sz="1400" b="1" dirty="0">
                <a:latin typeface="ADLaM Display" panose="02010000000000000000" pitchFamily="2" charset="0"/>
                <a:cs typeface="ADLaM Display" panose="02010000000000000000" pitchFamily="2" charset="0"/>
              </a:rPr>
              <a:t> 관련 여러 아이디어</a:t>
            </a:r>
            <a:endParaRPr lang="en-US" altLang="ko-KR" sz="14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US" altLang="ko-KR" sz="1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285750" indent="-285750">
              <a:buFontTx/>
              <a:buChar char="-"/>
            </a:pPr>
            <a:r>
              <a:rPr lang="ko-KR" altLang="en-US" sz="1400" dirty="0" err="1">
                <a:latin typeface="ADLaM Display" panose="02010000000000000000" pitchFamily="2" charset="0"/>
                <a:cs typeface="ADLaM Display" panose="02010000000000000000" pitchFamily="2" charset="0"/>
              </a:rPr>
              <a:t>퍼널</a:t>
            </a:r>
            <a:r>
              <a:rPr lang="ko-KR" altLang="en-US" sz="1400" dirty="0">
                <a:latin typeface="ADLaM Display" panose="02010000000000000000" pitchFamily="2" charset="0"/>
                <a:cs typeface="ADLaM Display" panose="02010000000000000000" pitchFamily="2" charset="0"/>
              </a:rPr>
              <a:t> 단계를 줄이기</a:t>
            </a:r>
            <a:r>
              <a:rPr lang="en-US" altLang="ko-KR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(Gap </a:t>
            </a:r>
            <a:r>
              <a:rPr lang="ko-KR" altLang="en-US" sz="1400" dirty="0">
                <a:latin typeface="ADLaM Display" panose="02010000000000000000" pitchFamily="2" charset="0"/>
                <a:cs typeface="ADLaM Display" panose="02010000000000000000" pitchFamily="2" charset="0"/>
              </a:rPr>
              <a:t>줄이기</a:t>
            </a:r>
            <a:r>
              <a:rPr lang="en-US" altLang="ko-KR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)</a:t>
            </a:r>
          </a:p>
          <a:p>
            <a:pPr marL="285750" indent="-285750">
              <a:buFontTx/>
              <a:buChar char="-"/>
            </a:pPr>
            <a:endParaRPr lang="en-US" altLang="ko-KR" sz="1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285750" indent="-285750">
              <a:buFontTx/>
              <a:buChar char="-"/>
            </a:pPr>
            <a:r>
              <a:rPr lang="ko-KR" altLang="en-US" sz="1400" dirty="0" err="1">
                <a:latin typeface="ADLaM Display" panose="02010000000000000000" pitchFamily="2" charset="0"/>
                <a:cs typeface="ADLaM Display" panose="02010000000000000000" pitchFamily="2" charset="0"/>
              </a:rPr>
              <a:t>퍼널</a:t>
            </a:r>
            <a:r>
              <a:rPr lang="ko-KR" altLang="en-US" sz="1400" dirty="0">
                <a:latin typeface="ADLaM Display" panose="02010000000000000000" pitchFamily="2" charset="0"/>
                <a:cs typeface="ADLaM Display" panose="02010000000000000000" pitchFamily="2" charset="0"/>
              </a:rPr>
              <a:t> 순서를 바꾸기 </a:t>
            </a:r>
            <a:r>
              <a:rPr lang="en-US" altLang="ko-KR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 </a:t>
            </a:r>
            <a:r>
              <a:rPr lang="ko-KR" altLang="en-US" sz="1400" dirty="0">
                <a:latin typeface="ADLaM Display" panose="02010000000000000000" pitchFamily="2" charset="0"/>
                <a:cs typeface="ADLaM Display" panose="02010000000000000000" pitchFamily="2" charset="0"/>
              </a:rPr>
              <a:t>회원 가입 전에 체험하고</a:t>
            </a:r>
            <a:r>
              <a:rPr lang="en-US" altLang="ko-KR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</a:p>
          <a:p>
            <a:r>
              <a:rPr lang="ko-KR" altLang="en-US" sz="1400" dirty="0">
                <a:latin typeface="ADLaM Display" panose="02010000000000000000" pitchFamily="2" charset="0"/>
                <a:cs typeface="ADLaM Display" panose="02010000000000000000" pitchFamily="2" charset="0"/>
              </a:rPr>
              <a:t>    체험의 어느 단계에서 회원 가입 또는 로그인하도록 설계</a:t>
            </a:r>
            <a:endParaRPr lang="en-US" altLang="ko-KR" sz="1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US" altLang="ko-KR" sz="1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285750" indent="-285750">
              <a:buFontTx/>
              <a:buChar char="-"/>
            </a:pPr>
            <a:r>
              <a:rPr lang="ko-KR" altLang="en-US" sz="1400" dirty="0">
                <a:latin typeface="ADLaM Display" panose="02010000000000000000" pitchFamily="2" charset="0"/>
                <a:cs typeface="ADLaM Display" panose="02010000000000000000" pitchFamily="2" charset="0"/>
              </a:rPr>
              <a:t>결제 직전에 추가 상품을 추천해서 </a:t>
            </a:r>
            <a:r>
              <a:rPr lang="ko-KR" altLang="en-US" sz="1400" dirty="0" err="1">
                <a:latin typeface="ADLaM Display" panose="02010000000000000000" pitchFamily="2" charset="0"/>
                <a:cs typeface="ADLaM Display" panose="02010000000000000000" pitchFamily="2" charset="0"/>
              </a:rPr>
              <a:t>업셀링</a:t>
            </a:r>
            <a:endParaRPr lang="en-US" altLang="ko-KR" sz="1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285750" indent="-285750">
              <a:buFontTx/>
              <a:buChar char="-"/>
            </a:pPr>
            <a:endParaRPr lang="en-US" altLang="ko-KR" sz="1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marL="285750" indent="-285750">
              <a:buFontTx/>
              <a:buChar char="-"/>
            </a:pPr>
            <a:r>
              <a:rPr lang="ko-KR" altLang="en-US" sz="1400" dirty="0">
                <a:latin typeface="ADLaM Display" panose="02010000000000000000" pitchFamily="2" charset="0"/>
                <a:cs typeface="ADLaM Display" panose="02010000000000000000" pitchFamily="2" charset="0"/>
              </a:rPr>
              <a:t>장바구니에 담기 전에 할인 프로모션 안내</a:t>
            </a:r>
            <a:r>
              <a:rPr lang="en-US" altLang="ko-KR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lang="ko-KR" altLang="en-US" sz="1400" dirty="0">
                <a:latin typeface="ADLaM Display" panose="02010000000000000000" pitchFamily="2" charset="0"/>
                <a:cs typeface="ADLaM Display" panose="02010000000000000000" pitchFamily="2" charset="0"/>
              </a:rPr>
              <a:t>할인 가격 적용해서 노출</a:t>
            </a:r>
          </a:p>
        </p:txBody>
      </p:sp>
    </p:spTree>
    <p:extLst>
      <p:ext uri="{BB962C8B-B14F-4D97-AF65-F5344CB8AC3E}">
        <p14:creationId xmlns:p14="http://schemas.microsoft.com/office/powerpoint/2010/main" val="3165482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B5D90-D625-79F5-4732-6F04B3A3A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9F5944-02AF-5138-F009-AFF599D44606}"/>
              </a:ext>
            </a:extLst>
          </p:cNvPr>
          <p:cNvSpPr txBox="1"/>
          <p:nvPr/>
        </p:nvSpPr>
        <p:spPr>
          <a:xfrm>
            <a:off x="166255" y="175491"/>
            <a:ext cx="10603345" cy="2050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800" b="1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Firebase </a:t>
            </a:r>
            <a:r>
              <a:rPr lang="ko-KR" altLang="en-US" sz="2800" b="1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함초롬바탕" panose="02030604000101010101" pitchFamily="18" charset="-127"/>
                <a:cs typeface="ADLaM Display" panose="02010000000000000000" pitchFamily="2" charset="0"/>
              </a:rPr>
              <a:t>앱 로그 기반 데이터 분석 </a:t>
            </a:r>
            <a:endParaRPr lang="en-US" altLang="ko-KR" sz="2800" b="1" kern="0" spc="0" dirty="0">
              <a:solidFill>
                <a:srgbClr val="000000"/>
              </a:solidFill>
              <a:effectLst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&lt;2. </a:t>
            </a:r>
            <a:r>
              <a:rPr lang="ko-KR" altLang="en-US" kern="0" dirty="0" err="1">
                <a:solidFill>
                  <a:srgbClr val="000000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리텐션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 분석</a:t>
            </a:r>
            <a:r>
              <a:rPr lang="en-US" altLang="ko-KR" kern="0" dirty="0">
                <a:solidFill>
                  <a:srgbClr val="0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&gt;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ADLaM Display" panose="02010000000000000000" pitchFamily="2" charset="0"/>
              <a:cs typeface="ADLaM Display" panose="02010000000000000000" pitchFamily="2" charset="0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SQL </a:t>
            </a:r>
            <a:r>
              <a:rPr lang="ko-KR" altLang="en-US" kern="0" dirty="0">
                <a:solidFill>
                  <a:srgbClr val="000000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쿼리를 통해 주 별 </a:t>
            </a:r>
            <a:r>
              <a:rPr lang="ko-KR" altLang="en-US" kern="0" dirty="0" err="1">
                <a:solidFill>
                  <a:srgbClr val="000000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리텐션</a:t>
            </a:r>
            <a:r>
              <a:rPr lang="ko-KR" altLang="en-US" kern="0" dirty="0">
                <a:solidFill>
                  <a:srgbClr val="000000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 그래프 도출</a:t>
            </a:r>
            <a:endParaRPr lang="en-US" altLang="ko-KR" sz="1800" kern="0" spc="0" dirty="0">
              <a:solidFill>
                <a:srgbClr val="000000"/>
              </a:solidFill>
              <a:effectLst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just" fontAlgn="base">
              <a:lnSpc>
                <a:spcPct val="160000"/>
              </a:lnSpc>
            </a:pPr>
            <a:endParaRPr lang="ko-KR" altLang="en-US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3" name="그림 2" descr="텍스트, 스크린샷, 번호, 폰트이(가) 표시된 사진&#10;&#10;자동 생성된 설명">
            <a:extLst>
              <a:ext uri="{FF2B5EF4-FFF2-40B4-BE49-F238E27FC236}">
                <a16:creationId xmlns:a16="http://schemas.microsoft.com/office/drawing/2014/main" id="{0224209C-F739-CCC0-D736-EEF48A642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378" y="4597256"/>
            <a:ext cx="3628184" cy="2002440"/>
          </a:xfrm>
          <a:prstGeom prst="rect">
            <a:avLst/>
          </a:prstGeom>
        </p:spPr>
      </p:pic>
      <p:pic>
        <p:nvPicPr>
          <p:cNvPr id="7" name="그림 6" descr="텍스트, 스크린샷, 번호, 폰트이(가) 표시된 사진&#10;&#10;자동 생성된 설명">
            <a:extLst>
              <a:ext uri="{FF2B5EF4-FFF2-40B4-BE49-F238E27FC236}">
                <a16:creationId xmlns:a16="http://schemas.microsoft.com/office/drawing/2014/main" id="{70241B47-1542-8D87-B126-F07BF21936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414" y="2421247"/>
            <a:ext cx="3554148" cy="21760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33FB9E3-5FAD-3E49-1B4B-596E75F37E75}"/>
              </a:ext>
            </a:extLst>
          </p:cNvPr>
          <p:cNvSpPr txBox="1"/>
          <p:nvPr/>
        </p:nvSpPr>
        <p:spPr>
          <a:xfrm>
            <a:off x="1297580" y="1917417"/>
            <a:ext cx="2309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 day retention</a:t>
            </a:r>
            <a:endParaRPr lang="ko-KR" altLang="en-US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13" name="그림 12" descr="텍스트, 번호, 스크린샷, 폰트이(가) 표시된 사진&#10;&#10;자동 생성된 설명">
            <a:extLst>
              <a:ext uri="{FF2B5EF4-FFF2-40B4-BE49-F238E27FC236}">
                <a16:creationId xmlns:a16="http://schemas.microsoft.com/office/drawing/2014/main" id="{52E2663A-8451-3305-482F-DC2DAEEA220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0140" y="3118575"/>
            <a:ext cx="3570425" cy="226702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7FD7FA0-AF05-C37F-4238-5C7E9D623D3F}"/>
              </a:ext>
            </a:extLst>
          </p:cNvPr>
          <p:cNvSpPr txBox="1"/>
          <p:nvPr/>
        </p:nvSpPr>
        <p:spPr>
          <a:xfrm>
            <a:off x="5176304" y="2504436"/>
            <a:ext cx="2309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Weekly retention</a:t>
            </a:r>
            <a:endParaRPr lang="ko-KR" altLang="en-US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16" name="그림 15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0D0952B9-FD94-D822-17F1-794244C89B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4107" y="3118575"/>
            <a:ext cx="3429479" cy="239110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560DFAF-E182-FFF4-9F68-CEAB95871F15}"/>
              </a:ext>
            </a:extLst>
          </p:cNvPr>
          <p:cNvSpPr txBox="1"/>
          <p:nvPr/>
        </p:nvSpPr>
        <p:spPr>
          <a:xfrm>
            <a:off x="9097140" y="2636089"/>
            <a:ext cx="2309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Monthly retention</a:t>
            </a:r>
            <a:endParaRPr lang="ko-KR" altLang="en-US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7E7EAE-B5C3-F31E-0263-F6B485E21B13}"/>
              </a:ext>
            </a:extLst>
          </p:cNvPr>
          <p:cNvSpPr txBox="1"/>
          <p:nvPr/>
        </p:nvSpPr>
        <p:spPr>
          <a:xfrm>
            <a:off x="6793215" y="581007"/>
            <a:ext cx="523253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 day retention : 2022-08-01 ~ 2022-11-03</a:t>
            </a:r>
          </a:p>
          <a:p>
            <a:endParaRPr lang="en-US" altLang="ko-KR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n-US" altLang="ko-K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Weekly retention : 2022-08-01 ~ 2023-08-03</a:t>
            </a:r>
            <a:endParaRPr lang="ko-KR" altLang="en-US" dirty="0">
              <a:latin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US" altLang="ko-KR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n-US" altLang="ko-K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Monthly retention : 2022-08-01 ~ 2022-11-03</a:t>
            </a:r>
            <a:endParaRPr lang="ko-KR" altLang="en-US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140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B8F07-DFA5-F8F5-3846-4A90103D4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A0EA3C-C171-7D7F-1C52-BC26416424F0}"/>
              </a:ext>
            </a:extLst>
          </p:cNvPr>
          <p:cNvSpPr txBox="1"/>
          <p:nvPr/>
        </p:nvSpPr>
        <p:spPr>
          <a:xfrm>
            <a:off x="166255" y="175491"/>
            <a:ext cx="10603345" cy="1607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800" b="1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Firebase </a:t>
            </a:r>
            <a:r>
              <a:rPr lang="ko-KR" altLang="en-US" sz="2800" b="1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함초롬바탕" panose="02030604000101010101" pitchFamily="18" charset="-127"/>
                <a:cs typeface="ADLaM Display" panose="02010000000000000000" pitchFamily="2" charset="0"/>
              </a:rPr>
              <a:t>앱 로그 기반 데이터 분석 </a:t>
            </a:r>
            <a:endParaRPr lang="en-US" altLang="ko-KR" sz="2800" b="1" kern="0" spc="0" dirty="0">
              <a:solidFill>
                <a:srgbClr val="000000"/>
              </a:solidFill>
              <a:effectLst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&lt;2. </a:t>
            </a:r>
            <a:r>
              <a:rPr lang="ko-KR" altLang="en-US" kern="0" dirty="0" err="1">
                <a:solidFill>
                  <a:srgbClr val="000000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리텐션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 분석</a:t>
            </a:r>
            <a:r>
              <a:rPr lang="en-US" altLang="ko-KR" kern="0" dirty="0">
                <a:solidFill>
                  <a:srgbClr val="0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&gt;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ADLaM Display" panose="02010000000000000000" pitchFamily="2" charset="0"/>
              <a:cs typeface="ADLaM Display" panose="02010000000000000000" pitchFamily="2" charset="0"/>
            </a:endParaRPr>
          </a:p>
          <a:p>
            <a:pPr algn="just" fontAlgn="base">
              <a:lnSpc>
                <a:spcPct val="160000"/>
              </a:lnSpc>
            </a:pPr>
            <a:endParaRPr lang="ko-KR" altLang="en-US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9D52DD-B57B-0366-72DC-C593CAA50111}"/>
              </a:ext>
            </a:extLst>
          </p:cNvPr>
          <p:cNvSpPr txBox="1"/>
          <p:nvPr/>
        </p:nvSpPr>
        <p:spPr>
          <a:xfrm>
            <a:off x="7772272" y="2089993"/>
            <a:ext cx="2309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 day retention</a:t>
            </a:r>
            <a:endParaRPr lang="ko-KR" altLang="en-US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5" name="그림 4" descr="텍스트, 스크린샷, 라인, 그래프이(가) 표시된 사진&#10;&#10;자동 생성된 설명">
            <a:extLst>
              <a:ext uri="{FF2B5EF4-FFF2-40B4-BE49-F238E27FC236}">
                <a16:creationId xmlns:a16="http://schemas.microsoft.com/office/drawing/2014/main" id="{29DA2B60-866E-0E5F-5EC6-642B6C88CD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591" y="2645831"/>
            <a:ext cx="5715798" cy="35056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23A077-2114-9AFC-AC1C-9F972BD4215C}"/>
              </a:ext>
            </a:extLst>
          </p:cNvPr>
          <p:cNvSpPr txBox="1"/>
          <p:nvPr/>
        </p:nvSpPr>
        <p:spPr>
          <a:xfrm>
            <a:off x="665018" y="3086572"/>
            <a:ext cx="46003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 day </a:t>
            </a:r>
            <a:r>
              <a:rPr lang="ko-KR" altLang="en-US" dirty="0" err="1">
                <a:latin typeface="ADLaM Display" panose="02010000000000000000" pitchFamily="2" charset="0"/>
                <a:cs typeface="ADLaM Display" panose="02010000000000000000" pitchFamily="2" charset="0"/>
              </a:rPr>
              <a:t>리텐션을</a:t>
            </a:r>
            <a:r>
              <a:rPr lang="ko-KR" altLang="en-US" dirty="0">
                <a:latin typeface="ADLaM Display" panose="02010000000000000000" pitchFamily="2" charset="0"/>
                <a:cs typeface="ADLaM Display" panose="02010000000000000000" pitchFamily="2" charset="0"/>
              </a:rPr>
              <a:t> 구해보니</a:t>
            </a:r>
            <a:r>
              <a:rPr lang="en-US" altLang="ko-K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lang="ko-KR" altLang="en-US" dirty="0">
                <a:latin typeface="ADLaM Display" panose="02010000000000000000" pitchFamily="2" charset="0"/>
                <a:cs typeface="ADLaM Display" panose="02010000000000000000" pitchFamily="2" charset="0"/>
              </a:rPr>
              <a:t>값이 너무 낮아 보기 어려움 </a:t>
            </a:r>
            <a:endParaRPr lang="en-US" altLang="ko-KR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US" altLang="ko-KR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n-US" altLang="ko-K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=&gt; Weekly </a:t>
            </a:r>
            <a:r>
              <a:rPr lang="ko-KR" altLang="en-US" dirty="0" err="1">
                <a:latin typeface="ADLaM Display" panose="02010000000000000000" pitchFamily="2" charset="0"/>
                <a:cs typeface="ADLaM Display" panose="02010000000000000000" pitchFamily="2" charset="0"/>
              </a:rPr>
              <a:t>리텐션</a:t>
            </a:r>
            <a:r>
              <a:rPr lang="en-US" altLang="ko-K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(Range)</a:t>
            </a:r>
            <a:r>
              <a:rPr lang="ko-KR" altLang="en-US" dirty="0">
                <a:latin typeface="ADLaM Display" panose="02010000000000000000" pitchFamily="2" charset="0"/>
                <a:cs typeface="ADLaM Display" panose="02010000000000000000" pitchFamily="2" charset="0"/>
              </a:rPr>
              <a:t>로 수정</a:t>
            </a:r>
          </a:p>
        </p:txBody>
      </p:sp>
    </p:spTree>
    <p:extLst>
      <p:ext uri="{BB962C8B-B14F-4D97-AF65-F5344CB8AC3E}">
        <p14:creationId xmlns:p14="http://schemas.microsoft.com/office/powerpoint/2010/main" val="4290630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3D0AC-885D-DC22-2491-A078403FD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D8FEBF-5319-4227-F7E8-383B3A59ADF4}"/>
              </a:ext>
            </a:extLst>
          </p:cNvPr>
          <p:cNvSpPr txBox="1"/>
          <p:nvPr/>
        </p:nvSpPr>
        <p:spPr>
          <a:xfrm>
            <a:off x="166255" y="175491"/>
            <a:ext cx="11859490" cy="1501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800" b="1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Firebase </a:t>
            </a:r>
            <a:r>
              <a:rPr lang="ko-KR" altLang="en-US" sz="2800" b="1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함초롬바탕" panose="02030604000101010101" pitchFamily="18" charset="-127"/>
                <a:cs typeface="ADLaM Display" panose="02010000000000000000" pitchFamily="2" charset="0"/>
              </a:rPr>
              <a:t>앱 로그 기반 데이터 분석 </a:t>
            </a:r>
            <a:endParaRPr lang="en-US" altLang="ko-KR" sz="2800" b="1" kern="0" spc="0" dirty="0">
              <a:solidFill>
                <a:srgbClr val="000000"/>
              </a:solidFill>
              <a:effectLst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&lt;2. </a:t>
            </a:r>
            <a:r>
              <a:rPr lang="ko-KR" altLang="en-US" kern="0" dirty="0" err="1">
                <a:solidFill>
                  <a:srgbClr val="000000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리텐션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 분석 쿼리</a:t>
            </a:r>
            <a:r>
              <a:rPr lang="en-US" altLang="ko-KR" kern="0" dirty="0">
                <a:solidFill>
                  <a:srgbClr val="0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&gt;</a:t>
            </a:r>
            <a:endParaRPr lang="en-US" altLang="ko-KR" sz="1800" kern="0" spc="0" dirty="0">
              <a:solidFill>
                <a:srgbClr val="000000"/>
              </a:solidFill>
              <a:effectLst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ko-KR" altLang="en-US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6" name="그림 5" descr="텍스트, 폰트, 스크린샷, 화이트이(가) 표시된 사진&#10;&#10;자동 생성된 설명">
            <a:extLst>
              <a:ext uri="{FF2B5EF4-FFF2-40B4-BE49-F238E27FC236}">
                <a16:creationId xmlns:a16="http://schemas.microsoft.com/office/drawing/2014/main" id="{5DF875DB-EDD9-A1CC-D43F-B031FD4756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255" y="1441677"/>
            <a:ext cx="7305963" cy="1501951"/>
          </a:xfrm>
          <a:prstGeom prst="rect">
            <a:avLst/>
          </a:prstGeom>
        </p:spPr>
      </p:pic>
      <p:pic>
        <p:nvPicPr>
          <p:cNvPr id="9" name="그림 8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3601002D-7733-ACF4-AF3A-E212500547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4857" y="1146233"/>
            <a:ext cx="4288249" cy="4565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902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AD942-6325-440D-E9A0-17EB15AEA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EDAF01D-B8DE-2023-5A2A-B7198E267BE7}"/>
              </a:ext>
            </a:extLst>
          </p:cNvPr>
          <p:cNvSpPr txBox="1"/>
          <p:nvPr/>
        </p:nvSpPr>
        <p:spPr>
          <a:xfrm>
            <a:off x="166255" y="175491"/>
            <a:ext cx="10603345" cy="1607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800" b="1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Firebase </a:t>
            </a:r>
            <a:r>
              <a:rPr lang="ko-KR" altLang="en-US" sz="2800" b="1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함초롬바탕" panose="02030604000101010101" pitchFamily="18" charset="-127"/>
                <a:cs typeface="ADLaM Display" panose="02010000000000000000" pitchFamily="2" charset="0"/>
              </a:rPr>
              <a:t>앱 로그 기반 데이터 분석 </a:t>
            </a:r>
            <a:endParaRPr lang="en-US" altLang="ko-KR" sz="2800" b="1" kern="0" spc="0" dirty="0">
              <a:solidFill>
                <a:srgbClr val="000000"/>
              </a:solidFill>
              <a:effectLst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&lt;2. </a:t>
            </a:r>
            <a:r>
              <a:rPr lang="ko-KR" altLang="en-US" kern="0" dirty="0" err="1">
                <a:solidFill>
                  <a:srgbClr val="000000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리텐션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 분석 시각화 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&amp;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해석</a:t>
            </a:r>
            <a:r>
              <a:rPr lang="en-US" altLang="ko-KR" kern="0" dirty="0">
                <a:solidFill>
                  <a:srgbClr val="0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&gt;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ADLaM Display" panose="02010000000000000000" pitchFamily="2" charset="0"/>
              <a:cs typeface="ADLaM Display" panose="02010000000000000000" pitchFamily="2" charset="0"/>
            </a:endParaRPr>
          </a:p>
          <a:p>
            <a:pPr algn="just" fontAlgn="base">
              <a:lnSpc>
                <a:spcPct val="160000"/>
              </a:lnSpc>
            </a:pPr>
            <a:endParaRPr lang="ko-KR" altLang="en-US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3C3393-481C-3C72-4585-D3CD61ABD484}"/>
              </a:ext>
            </a:extLst>
          </p:cNvPr>
          <p:cNvSpPr txBox="1"/>
          <p:nvPr/>
        </p:nvSpPr>
        <p:spPr>
          <a:xfrm>
            <a:off x="8169435" y="1219349"/>
            <a:ext cx="2309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Weekly retention</a:t>
            </a:r>
            <a:endParaRPr lang="ko-KR" altLang="en-US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E9BBCC-AD20-FB04-0C24-4EEFEFA76CE6}"/>
              </a:ext>
            </a:extLst>
          </p:cNvPr>
          <p:cNvSpPr txBox="1"/>
          <p:nvPr/>
        </p:nvSpPr>
        <p:spPr>
          <a:xfrm>
            <a:off x="249382" y="1773347"/>
            <a:ext cx="580496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Retention</a:t>
            </a:r>
            <a:r>
              <a:rPr lang="ko-KR" altLang="en-US" sz="1400" b="1" dirty="0">
                <a:latin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sz="14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Curve</a:t>
            </a:r>
            <a:r>
              <a:rPr lang="ko-KR" altLang="en-US" sz="1400" b="1" dirty="0">
                <a:latin typeface="ADLaM Display" panose="02010000000000000000" pitchFamily="2" charset="0"/>
                <a:cs typeface="ADLaM Display" panose="02010000000000000000" pitchFamily="2" charset="0"/>
              </a:rPr>
              <a:t> 해석하기</a:t>
            </a:r>
            <a:endParaRPr lang="en-US" altLang="ko-KR" sz="14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US" altLang="ko-KR" sz="1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n-US" altLang="ko-KR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- 1</a:t>
            </a:r>
            <a:r>
              <a:rPr lang="ko-KR" altLang="en-US" sz="1400" dirty="0">
                <a:latin typeface="ADLaM Display" panose="02010000000000000000" pitchFamily="2" charset="0"/>
                <a:cs typeface="ADLaM Display" panose="02010000000000000000" pitchFamily="2" charset="0"/>
              </a:rPr>
              <a:t>주차에 떨어진다</a:t>
            </a:r>
            <a:endParaRPr lang="en-US" altLang="ko-KR" sz="1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n-US" altLang="ko-KR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- 2</a:t>
            </a:r>
            <a:r>
              <a:rPr lang="ko-KR" altLang="en-US" sz="1400" dirty="0">
                <a:latin typeface="ADLaM Display" panose="02010000000000000000" pitchFamily="2" charset="0"/>
                <a:cs typeface="ADLaM Display" panose="02010000000000000000" pitchFamily="2" charset="0"/>
              </a:rPr>
              <a:t>주차부턴 평평한 편이다</a:t>
            </a:r>
            <a:endParaRPr lang="en-US" altLang="ko-KR" sz="1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US" altLang="ko-KR" sz="1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n-US" altLang="ko-KR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- 1</a:t>
            </a:r>
            <a:r>
              <a:rPr lang="ko-KR" altLang="en-US" sz="1400" dirty="0">
                <a:latin typeface="ADLaM Display" panose="02010000000000000000" pitchFamily="2" charset="0"/>
                <a:cs typeface="ADLaM Display" panose="02010000000000000000" pitchFamily="2" charset="0"/>
              </a:rPr>
              <a:t>주차에 떨어진다는 것은 제품의 핵심 가치</a:t>
            </a:r>
            <a:r>
              <a:rPr lang="en-US" altLang="ko-KR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(PMF)</a:t>
            </a:r>
            <a:r>
              <a:rPr lang="ko-KR" altLang="en-US" sz="1400" dirty="0">
                <a:latin typeface="ADLaM Display" panose="02010000000000000000" pitchFamily="2" charset="0"/>
                <a:cs typeface="ADLaM Display" panose="02010000000000000000" pitchFamily="2" charset="0"/>
              </a:rPr>
              <a:t>가 자리잡지 않았을 수 있음</a:t>
            </a:r>
            <a:endParaRPr lang="en-US" altLang="ko-KR" sz="1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US" altLang="ko-KR" sz="1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n-US" altLang="ko-KR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</a:t>
            </a:r>
            <a:r>
              <a:rPr lang="ko-KR" altLang="en-US" sz="1400" dirty="0">
                <a:latin typeface="ADLaM Display" panose="02010000000000000000" pitchFamily="2" charset="0"/>
                <a:cs typeface="ADLaM Display" panose="02010000000000000000" pitchFamily="2" charset="0"/>
              </a:rPr>
              <a:t>그러나 그 후엔 평평함 </a:t>
            </a:r>
            <a:r>
              <a:rPr lang="en-US" altLang="ko-KR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-&gt; </a:t>
            </a:r>
            <a:r>
              <a:rPr lang="ko-KR" altLang="en-US" sz="1400" dirty="0">
                <a:latin typeface="ADLaM Display" panose="02010000000000000000" pitchFamily="2" charset="0"/>
                <a:cs typeface="ADLaM Display" panose="02010000000000000000" pitchFamily="2" charset="0"/>
              </a:rPr>
              <a:t>어떤 유저들은 이 핵심 가치를 경험했을 수 있음</a:t>
            </a:r>
          </a:p>
        </p:txBody>
      </p:sp>
      <p:pic>
        <p:nvPicPr>
          <p:cNvPr id="3" name="그림 2" descr="텍스트, 라인, 그래프, 스크린샷이(가) 표시된 사진&#10;&#10;자동 생성된 설명">
            <a:extLst>
              <a:ext uri="{FF2B5EF4-FFF2-40B4-BE49-F238E27FC236}">
                <a16:creationId xmlns:a16="http://schemas.microsoft.com/office/drawing/2014/main" id="{3DDA1918-F347-DBC4-DDD9-C6E31E2638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9980" y="1588681"/>
            <a:ext cx="5472638" cy="33734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381959E-DFE8-467B-9A07-5540A0C8061D}"/>
              </a:ext>
            </a:extLst>
          </p:cNvPr>
          <p:cNvSpPr txBox="1"/>
          <p:nvPr/>
        </p:nvSpPr>
        <p:spPr>
          <a:xfrm>
            <a:off x="249382" y="4100945"/>
            <a:ext cx="7176654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Retention Curve </a:t>
            </a:r>
            <a:r>
              <a:rPr lang="ko-KR" altLang="en-US" sz="1400" b="1" dirty="0">
                <a:latin typeface="ADLaM Display" panose="02010000000000000000" pitchFamily="2" charset="0"/>
                <a:cs typeface="ADLaM Display" panose="02010000000000000000" pitchFamily="2" charset="0"/>
              </a:rPr>
              <a:t>관련 아이디어</a:t>
            </a:r>
            <a:endParaRPr lang="en-US" altLang="ko-KR" sz="14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US" altLang="ko-KR" sz="1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n-US" altLang="ko-KR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PMF</a:t>
            </a:r>
            <a:r>
              <a:rPr lang="ko-KR" altLang="en-US" sz="1400" dirty="0">
                <a:latin typeface="ADLaM Display" panose="02010000000000000000" pitchFamily="2" charset="0"/>
                <a:cs typeface="ADLaM Display" panose="02010000000000000000" pitchFamily="2" charset="0"/>
              </a:rPr>
              <a:t>를 사람들이 더 많이 경험할 수 있도록 핵심 가치 경험 부분을 재점검</a:t>
            </a:r>
            <a:endParaRPr lang="en-US" altLang="ko-KR" sz="1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US" altLang="ko-KR" sz="1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n-US" altLang="ko-KR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</a:t>
            </a:r>
            <a:r>
              <a:rPr lang="ko-KR" altLang="en-US" sz="1400" dirty="0">
                <a:latin typeface="ADLaM Display" panose="02010000000000000000" pitchFamily="2" charset="0"/>
                <a:cs typeface="ADLaM Display" panose="02010000000000000000" pitchFamily="2" charset="0"/>
              </a:rPr>
              <a:t>평평한</a:t>
            </a:r>
            <a:r>
              <a:rPr lang="en-US" altLang="ko-KR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(Retention Plateau) </a:t>
            </a:r>
            <a:r>
              <a:rPr lang="ko-KR" altLang="en-US" sz="1400" dirty="0">
                <a:latin typeface="ADLaM Display" panose="02010000000000000000" pitchFamily="2" charset="0"/>
                <a:cs typeface="ADLaM Display" panose="02010000000000000000" pitchFamily="2" charset="0"/>
              </a:rPr>
              <a:t>부분에 있는 사람들은 주로 어떤 것을 하고 있는지 파악해보기</a:t>
            </a:r>
            <a:r>
              <a:rPr lang="en-US" altLang="ko-KR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</a:t>
            </a:r>
            <a:r>
              <a:rPr lang="ko-KR" altLang="en-US" sz="1400" dirty="0">
                <a:latin typeface="ADLaM Display" panose="02010000000000000000" pitchFamily="2" charset="0"/>
                <a:cs typeface="ADLaM Display" panose="02010000000000000000" pitchFamily="2" charset="0"/>
              </a:rPr>
              <a:t>정량 분석 </a:t>
            </a:r>
            <a:r>
              <a:rPr lang="en-US" altLang="ko-KR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+ </a:t>
            </a:r>
            <a:r>
              <a:rPr lang="ko-KR" altLang="en-US" sz="1400" dirty="0">
                <a:latin typeface="ADLaM Display" panose="02010000000000000000" pitchFamily="2" charset="0"/>
                <a:cs typeface="ADLaM Display" panose="02010000000000000000" pitchFamily="2" charset="0"/>
              </a:rPr>
              <a:t>사용자 인터뷰 등</a:t>
            </a:r>
            <a:r>
              <a:rPr lang="en-US" altLang="ko-KR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)</a:t>
            </a:r>
          </a:p>
          <a:p>
            <a:endParaRPr lang="en-US" altLang="ko-KR" sz="1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n-US" altLang="ko-KR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</a:t>
            </a:r>
            <a:r>
              <a:rPr lang="ko-KR" altLang="en-US" sz="1400" dirty="0">
                <a:latin typeface="ADLaM Display" panose="02010000000000000000" pitchFamily="2" charset="0"/>
                <a:cs typeface="ADLaM Display" panose="02010000000000000000" pitchFamily="2" charset="0"/>
              </a:rPr>
              <a:t>주기적으로 사용하는 사람들의 특징을 찾고 이 부분을 핵심 가치 경험에 녹여보는 것도 방법</a:t>
            </a:r>
            <a:endParaRPr lang="en-US" altLang="ko-KR" sz="1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US" altLang="ko-KR" sz="1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n-US" altLang="ko-KR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- 1</a:t>
            </a:r>
            <a:r>
              <a:rPr lang="ko-KR" altLang="en-US" sz="1400" dirty="0">
                <a:latin typeface="ADLaM Display" panose="02010000000000000000" pitchFamily="2" charset="0"/>
                <a:cs typeface="ADLaM Display" panose="02010000000000000000" pitchFamily="2" charset="0"/>
              </a:rPr>
              <a:t>주 뒤 </a:t>
            </a:r>
            <a:r>
              <a:rPr lang="en-US" altLang="ko-KR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9%</a:t>
            </a:r>
            <a:r>
              <a:rPr lang="ko-KR" altLang="en-US" sz="1400" dirty="0">
                <a:latin typeface="ADLaM Display" panose="02010000000000000000" pitchFamily="2" charset="0"/>
                <a:cs typeface="ADLaM Display" panose="02010000000000000000" pitchFamily="2" charset="0"/>
              </a:rPr>
              <a:t>만 남는 상황에 마케팅을 하는 것이 좋을까</a:t>
            </a:r>
            <a:r>
              <a:rPr lang="en-US" altLang="ko-KR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? X</a:t>
            </a:r>
            <a:endParaRPr lang="ko-KR" altLang="en-US" sz="1400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107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092B6-5D42-FB3F-587B-204AEE9C9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B9229E8-DBA0-E35F-274A-F9060DB3889D}"/>
              </a:ext>
            </a:extLst>
          </p:cNvPr>
          <p:cNvSpPr txBox="1"/>
          <p:nvPr/>
        </p:nvSpPr>
        <p:spPr>
          <a:xfrm>
            <a:off x="166255" y="175491"/>
            <a:ext cx="10603345" cy="2937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800" b="1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Firebase </a:t>
            </a:r>
            <a:r>
              <a:rPr lang="ko-KR" altLang="en-US" sz="2800" b="1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함초롬바탕" panose="02030604000101010101" pitchFamily="18" charset="-127"/>
                <a:cs typeface="ADLaM Display" panose="02010000000000000000" pitchFamily="2" charset="0"/>
              </a:rPr>
              <a:t>앱 로그 기반 데이터 분석 </a:t>
            </a:r>
            <a:endParaRPr lang="en-US" altLang="ko-KR" sz="2800" b="1" kern="0" spc="0" dirty="0">
              <a:solidFill>
                <a:srgbClr val="000000"/>
              </a:solidFill>
              <a:effectLst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&lt;3.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코호트 </a:t>
            </a:r>
            <a:r>
              <a:rPr lang="ko-KR" altLang="en-US" sz="1800" kern="0" spc="0" dirty="0" err="1">
                <a:solidFill>
                  <a:srgbClr val="000000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리텐션</a:t>
            </a:r>
            <a:r>
              <a:rPr lang="en-US" altLang="ko-KR" kern="0" dirty="0">
                <a:solidFill>
                  <a:srgbClr val="0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&gt;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ADLaM Display" panose="02010000000000000000" pitchFamily="2" charset="0"/>
              <a:cs typeface="ADLaM Display" panose="02010000000000000000" pitchFamily="2" charset="0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kern="0" dirty="0">
                <a:solidFill>
                  <a:srgbClr val="0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SQL </a:t>
            </a:r>
            <a:r>
              <a:rPr lang="ko-KR" altLang="en-US" kern="0" dirty="0">
                <a:solidFill>
                  <a:srgbClr val="000000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쿼리를 통해 코호트 </a:t>
            </a:r>
            <a:r>
              <a:rPr lang="ko-KR" altLang="en-US" kern="0" dirty="0" err="1">
                <a:solidFill>
                  <a:srgbClr val="000000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리텐션</a:t>
            </a:r>
            <a:r>
              <a:rPr lang="ko-KR" altLang="en-US" kern="0" dirty="0">
                <a:solidFill>
                  <a:srgbClr val="000000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 시각화 추출</a:t>
            </a:r>
            <a:endParaRPr lang="en-US" altLang="ko-KR" kern="0" dirty="0">
              <a:solidFill>
                <a:srgbClr val="00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just" fontAlgn="base">
              <a:lnSpc>
                <a:spcPct val="160000"/>
              </a:lnSpc>
            </a:pPr>
            <a:endParaRPr lang="en-US" altLang="ko-KR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rgbClr val="000000"/>
                </a:solidFill>
                <a:latin typeface="ADLaM Display" panose="02010000000000000000" pitchFamily="2" charset="0"/>
                <a:ea typeface="함초롬바탕" panose="02030604000101010101" pitchFamily="18" charset="-127"/>
                <a:cs typeface="ADLaM Display" panose="02010000000000000000" pitchFamily="2" charset="0"/>
              </a:rPr>
              <a:t>데이터 </a:t>
            </a:r>
            <a:r>
              <a:rPr lang="en-US" altLang="ko-KR" kern="0" dirty="0">
                <a:solidFill>
                  <a:srgbClr val="0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 2022-08-01 ~ 2022-12-31</a:t>
            </a:r>
            <a:endParaRPr lang="en-US" altLang="ko-KR" sz="1800" kern="0" spc="0" dirty="0">
              <a:solidFill>
                <a:srgbClr val="000000"/>
              </a:solidFill>
              <a:effectLst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just" fontAlgn="base">
              <a:lnSpc>
                <a:spcPct val="160000"/>
              </a:lnSpc>
            </a:pPr>
            <a:endParaRPr lang="ko-KR" altLang="en-US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5" name="그림 4" descr="텍스트, 번호, 스크린샷, 폰트이(가) 표시된 사진&#10;&#10;자동 생성된 설명">
            <a:extLst>
              <a:ext uri="{FF2B5EF4-FFF2-40B4-BE49-F238E27FC236}">
                <a16:creationId xmlns:a16="http://schemas.microsoft.com/office/drawing/2014/main" id="{C3D899A6-BF7D-51D1-DB2E-B5EA03CC3B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6717" y="2299010"/>
            <a:ext cx="6083998" cy="3409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4609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00765-D532-05FD-8BF8-ADC8247AF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A6BE9B0-8BF5-A97B-411A-22169EE6B275}"/>
              </a:ext>
            </a:extLst>
          </p:cNvPr>
          <p:cNvSpPr txBox="1"/>
          <p:nvPr/>
        </p:nvSpPr>
        <p:spPr>
          <a:xfrm>
            <a:off x="166255" y="175491"/>
            <a:ext cx="11859490" cy="1501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800" b="1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Firebase </a:t>
            </a:r>
            <a:r>
              <a:rPr lang="ko-KR" altLang="en-US" sz="2800" b="1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함초롬바탕" panose="02030604000101010101" pitchFamily="18" charset="-127"/>
                <a:cs typeface="ADLaM Display" panose="02010000000000000000" pitchFamily="2" charset="0"/>
              </a:rPr>
              <a:t>앱 로그 기반 데이터 분석 </a:t>
            </a:r>
            <a:endParaRPr lang="en-US" altLang="ko-KR" sz="2800" b="1" kern="0" spc="0" dirty="0">
              <a:solidFill>
                <a:srgbClr val="000000"/>
              </a:solidFill>
              <a:effectLst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&lt;3.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코호트 </a:t>
            </a:r>
            <a:r>
              <a:rPr lang="ko-KR" altLang="en-US" sz="1800" kern="0" spc="0" dirty="0" err="1">
                <a:solidFill>
                  <a:srgbClr val="000000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리텐션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 쿼리</a:t>
            </a:r>
            <a:r>
              <a:rPr lang="en-US" altLang="ko-KR" kern="0" dirty="0">
                <a:solidFill>
                  <a:srgbClr val="0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&gt;</a:t>
            </a:r>
            <a:endParaRPr lang="en-US" altLang="ko-KR" sz="1800" kern="0" spc="0" dirty="0">
              <a:solidFill>
                <a:srgbClr val="000000"/>
              </a:solidFill>
              <a:effectLst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ko-KR" altLang="en-US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3" name="그림 2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BA868961-E75F-09E6-C328-E0FDEB347F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4551" y="635000"/>
            <a:ext cx="5673019" cy="55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580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FDB4B-450B-B7DC-C630-9D45BCC71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82A067-3513-7D7A-B70B-A8877DA9BCDF}"/>
              </a:ext>
            </a:extLst>
          </p:cNvPr>
          <p:cNvSpPr txBox="1"/>
          <p:nvPr/>
        </p:nvSpPr>
        <p:spPr>
          <a:xfrm>
            <a:off x="166255" y="175491"/>
            <a:ext cx="10603345" cy="1607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800" b="1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Firebase </a:t>
            </a:r>
            <a:r>
              <a:rPr lang="ko-KR" altLang="en-US" sz="2800" b="1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함초롬바탕" panose="02030604000101010101" pitchFamily="18" charset="-127"/>
                <a:cs typeface="ADLaM Display" panose="02010000000000000000" pitchFamily="2" charset="0"/>
              </a:rPr>
              <a:t>앱 로그 기반 데이터 분석 </a:t>
            </a:r>
            <a:endParaRPr lang="en-US" altLang="ko-KR" sz="2800" b="1" kern="0" spc="0" dirty="0">
              <a:solidFill>
                <a:srgbClr val="000000"/>
              </a:solidFill>
              <a:effectLst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&lt;3.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코호트 </a:t>
            </a:r>
            <a:r>
              <a:rPr lang="ko-KR" altLang="en-US" sz="1800" kern="0" spc="0" dirty="0" err="1">
                <a:solidFill>
                  <a:srgbClr val="000000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리텐션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 시각화</a:t>
            </a:r>
            <a:r>
              <a:rPr lang="en-US" altLang="ko-KR" kern="0" dirty="0">
                <a:solidFill>
                  <a:srgbClr val="0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&gt;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ADLaM Display" panose="02010000000000000000" pitchFamily="2" charset="0"/>
              <a:cs typeface="ADLaM Display" panose="02010000000000000000" pitchFamily="2" charset="0"/>
            </a:endParaRPr>
          </a:p>
          <a:p>
            <a:pPr algn="just" fontAlgn="base">
              <a:lnSpc>
                <a:spcPct val="160000"/>
              </a:lnSpc>
            </a:pPr>
            <a:endParaRPr lang="en-US" altLang="ko-KR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3" name="그림 2" descr="텍스트, 도표, 라인, 그래프이(가) 표시된 사진&#10;&#10;자동 생성된 설명">
            <a:extLst>
              <a:ext uri="{FF2B5EF4-FFF2-40B4-BE49-F238E27FC236}">
                <a16:creationId xmlns:a16="http://schemas.microsoft.com/office/drawing/2014/main" id="{F85D2529-DBFE-89D0-DD7A-A9C131C915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878" y="1869143"/>
            <a:ext cx="10027482" cy="29152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6AFD43-3649-A3E9-9C7E-78221197F73E}"/>
              </a:ext>
            </a:extLst>
          </p:cNvPr>
          <p:cNvSpPr txBox="1"/>
          <p:nvPr/>
        </p:nvSpPr>
        <p:spPr>
          <a:xfrm>
            <a:off x="7914088" y="2921168"/>
            <a:ext cx="39808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ADLaM Display" panose="02010000000000000000" pitchFamily="2" charset="0"/>
                <a:cs typeface="ADLaM Display" panose="02010000000000000000" pitchFamily="2" charset="0"/>
              </a:rPr>
              <a:t>비율 지표 특성상 분자와 분모의 수가 얼마나 되는지도 참고 가능</a:t>
            </a:r>
            <a:endParaRPr lang="en-US" altLang="ko-KR" sz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US" altLang="ko-KR" sz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ko-KR" altLang="en-US" sz="1200" dirty="0">
                <a:latin typeface="ADLaM Display" panose="02010000000000000000" pitchFamily="2" charset="0"/>
                <a:cs typeface="ADLaM Display" panose="02010000000000000000" pitchFamily="2" charset="0"/>
              </a:rPr>
              <a:t>비율과 숫자를 모두 보며 파악하기 </a:t>
            </a:r>
            <a:r>
              <a:rPr lang="en-US" altLang="ko-KR" sz="1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=&gt; </a:t>
            </a:r>
            <a:r>
              <a:rPr lang="ko-KR" altLang="en-US" sz="1200" dirty="0">
                <a:latin typeface="ADLaM Display" panose="02010000000000000000" pitchFamily="2" charset="0"/>
                <a:cs typeface="ADLaM Display" panose="02010000000000000000" pitchFamily="2" charset="0"/>
              </a:rPr>
              <a:t>너무 작은 데이터인 경우 비율이 높게 나올 수 있음 주의</a:t>
            </a:r>
          </a:p>
        </p:txBody>
      </p:sp>
      <p:pic>
        <p:nvPicPr>
          <p:cNvPr id="8" name="그림 7" descr="텍스트, 도표, 그래프, 라인이(가) 표시된 사진&#10;&#10;자동 생성된 설명">
            <a:extLst>
              <a:ext uri="{FF2B5EF4-FFF2-40B4-BE49-F238E27FC236}">
                <a16:creationId xmlns:a16="http://schemas.microsoft.com/office/drawing/2014/main" id="{078DFDDF-28D1-FEDE-DE3C-4662E5B293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1" y="4187196"/>
            <a:ext cx="8746836" cy="2521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374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39178-6B4E-11D7-4FB9-94F0D0381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2CF8579-930F-094C-004F-0F350073AF7B}"/>
              </a:ext>
            </a:extLst>
          </p:cNvPr>
          <p:cNvSpPr txBox="1"/>
          <p:nvPr/>
        </p:nvSpPr>
        <p:spPr>
          <a:xfrm>
            <a:off x="166255" y="175491"/>
            <a:ext cx="10603345" cy="16076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800" b="1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Firebase </a:t>
            </a:r>
            <a:r>
              <a:rPr lang="ko-KR" altLang="en-US" sz="2800" b="1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함초롬바탕" panose="02030604000101010101" pitchFamily="18" charset="-127"/>
                <a:cs typeface="ADLaM Display" panose="02010000000000000000" pitchFamily="2" charset="0"/>
              </a:rPr>
              <a:t>앱 로그 기반 데이터 분석 </a:t>
            </a:r>
            <a:endParaRPr lang="en-US" altLang="ko-KR" sz="2800" b="1" kern="0" spc="0" dirty="0">
              <a:solidFill>
                <a:srgbClr val="000000"/>
              </a:solidFill>
              <a:effectLst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&lt;3.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코호트 </a:t>
            </a:r>
            <a:r>
              <a:rPr lang="ko-KR" altLang="en-US" sz="1800" kern="0" spc="0" dirty="0" err="1">
                <a:solidFill>
                  <a:srgbClr val="000000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리텐션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 해석</a:t>
            </a:r>
            <a:r>
              <a:rPr lang="en-US" altLang="ko-KR" kern="0" dirty="0">
                <a:solidFill>
                  <a:srgbClr val="0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&gt;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ADLaM Display" panose="02010000000000000000" pitchFamily="2" charset="0"/>
              <a:cs typeface="ADLaM Display" panose="02010000000000000000" pitchFamily="2" charset="0"/>
            </a:endParaRPr>
          </a:p>
          <a:p>
            <a:pPr algn="just" fontAlgn="base">
              <a:lnSpc>
                <a:spcPct val="160000"/>
              </a:lnSpc>
            </a:pPr>
            <a:endParaRPr lang="en-US" altLang="ko-KR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3" name="그림 2" descr="텍스트, 도표, 라인, 그래프이(가) 표시된 사진&#10;&#10;자동 생성된 설명">
            <a:extLst>
              <a:ext uri="{FF2B5EF4-FFF2-40B4-BE49-F238E27FC236}">
                <a16:creationId xmlns:a16="http://schemas.microsoft.com/office/drawing/2014/main" id="{B85974EF-4DEE-AB1B-E239-DB16609E86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878" y="1869143"/>
            <a:ext cx="10027482" cy="29152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294267-2D7C-A487-3966-1ABFA09DC3F5}"/>
              </a:ext>
            </a:extLst>
          </p:cNvPr>
          <p:cNvSpPr txBox="1"/>
          <p:nvPr/>
        </p:nvSpPr>
        <p:spPr>
          <a:xfrm>
            <a:off x="7018159" y="3316132"/>
            <a:ext cx="485056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latin typeface="ADLaM Display" panose="02010000000000000000" pitchFamily="2" charset="0"/>
                <a:cs typeface="ADLaM Display" panose="02010000000000000000" pitchFamily="2" charset="0"/>
              </a:rPr>
              <a:t>코호트 </a:t>
            </a:r>
            <a:r>
              <a:rPr lang="ko-KR" altLang="en-US" sz="1400" b="1" dirty="0" err="1">
                <a:latin typeface="ADLaM Display" panose="02010000000000000000" pitchFamily="2" charset="0"/>
                <a:cs typeface="ADLaM Display" panose="02010000000000000000" pitchFamily="2" charset="0"/>
              </a:rPr>
              <a:t>리텐션</a:t>
            </a:r>
            <a:r>
              <a:rPr lang="ko-KR" altLang="en-US" sz="1400" b="1" dirty="0">
                <a:latin typeface="ADLaM Display" panose="02010000000000000000" pitchFamily="2" charset="0"/>
                <a:cs typeface="ADLaM Display" panose="02010000000000000000" pitchFamily="2" charset="0"/>
              </a:rPr>
              <a:t> 해석하기</a:t>
            </a:r>
            <a:endParaRPr lang="en-US" altLang="ko-KR" sz="14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US" altLang="ko-KR" sz="1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n-US" altLang="ko-KR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</a:t>
            </a:r>
            <a:r>
              <a:rPr lang="ko-KR" altLang="en-US" sz="1400" dirty="0">
                <a:latin typeface="ADLaM Display" panose="02010000000000000000" pitchFamily="2" charset="0"/>
                <a:cs typeface="ADLaM Display" panose="02010000000000000000" pitchFamily="2" charset="0"/>
              </a:rPr>
              <a:t>갑자기 올라간 곳이 있는가</a:t>
            </a:r>
            <a:r>
              <a:rPr lang="en-US" altLang="ko-KR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? </a:t>
            </a:r>
            <a:r>
              <a:rPr lang="ko-KR" altLang="en-US" sz="1400" dirty="0">
                <a:latin typeface="ADLaM Display" panose="02010000000000000000" pitchFamily="2" charset="0"/>
                <a:cs typeface="ADLaM Display" panose="02010000000000000000" pitchFamily="2" charset="0"/>
              </a:rPr>
              <a:t>왜 그럴까</a:t>
            </a:r>
            <a:r>
              <a:rPr lang="en-US" altLang="ko-KR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? </a:t>
            </a:r>
            <a:r>
              <a:rPr lang="ko-KR" altLang="en-US" sz="1400" dirty="0">
                <a:latin typeface="ADLaM Display" panose="02010000000000000000" pitchFamily="2" charset="0"/>
                <a:cs typeface="ADLaM Display" panose="02010000000000000000" pitchFamily="2" charset="0"/>
              </a:rPr>
              <a:t>어떤 기능이 배포되었는가</a:t>
            </a:r>
            <a:r>
              <a:rPr lang="en-US" altLang="ko-KR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?</a:t>
            </a:r>
          </a:p>
          <a:p>
            <a:r>
              <a:rPr lang="en-US" altLang="ko-KR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</a:t>
            </a:r>
            <a:r>
              <a:rPr lang="ko-KR" altLang="en-US" sz="1400" dirty="0">
                <a:latin typeface="ADLaM Display" panose="02010000000000000000" pitchFamily="2" charset="0"/>
                <a:cs typeface="ADLaM Display" panose="02010000000000000000" pitchFamily="2" charset="0"/>
              </a:rPr>
              <a:t>올라간 특징을 기능으로 만들 수 있는가</a:t>
            </a:r>
            <a:r>
              <a:rPr lang="en-US" altLang="ko-KR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?</a:t>
            </a:r>
          </a:p>
          <a:p>
            <a:endParaRPr lang="en-US" altLang="ko-KR" sz="1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n-US" altLang="ko-KR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</a:t>
            </a:r>
            <a:r>
              <a:rPr lang="ko-KR" altLang="en-US" sz="1400" dirty="0">
                <a:latin typeface="ADLaM Display" panose="02010000000000000000" pitchFamily="2" charset="0"/>
                <a:cs typeface="ADLaM Display" panose="02010000000000000000" pitchFamily="2" charset="0"/>
              </a:rPr>
              <a:t>초반에 사용한 사람들의 </a:t>
            </a:r>
            <a:r>
              <a:rPr lang="ko-KR" altLang="en-US" sz="1400" dirty="0" err="1">
                <a:latin typeface="ADLaM Display" panose="02010000000000000000" pitchFamily="2" charset="0"/>
                <a:cs typeface="ADLaM Display" panose="02010000000000000000" pitchFamily="2" charset="0"/>
              </a:rPr>
              <a:t>리텐션은</a:t>
            </a:r>
            <a:r>
              <a:rPr lang="ko-KR" altLang="en-US" sz="1400" dirty="0">
                <a:latin typeface="ADLaM Display" panose="02010000000000000000" pitchFamily="2" charset="0"/>
                <a:cs typeface="ADLaM Display" panose="02010000000000000000" pitchFamily="2" charset="0"/>
              </a:rPr>
              <a:t> 낮음</a:t>
            </a:r>
            <a:endParaRPr lang="en-US" altLang="ko-KR" sz="1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US" altLang="ko-KR" sz="1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n-US" altLang="ko-KR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- 2022-10-03</a:t>
            </a:r>
            <a:r>
              <a:rPr lang="ko-KR" altLang="en-US" sz="1400" dirty="0">
                <a:latin typeface="ADLaM Display" panose="02010000000000000000" pitchFamily="2" charset="0"/>
                <a:cs typeface="ADLaM Display" panose="02010000000000000000" pitchFamily="2" charset="0"/>
              </a:rPr>
              <a:t>부터 올라가고</a:t>
            </a:r>
            <a:r>
              <a:rPr lang="en-US" altLang="ko-KR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2022-11-28</a:t>
            </a:r>
            <a:r>
              <a:rPr lang="ko-KR" altLang="en-US" sz="1400" dirty="0">
                <a:latin typeface="ADLaM Display" panose="02010000000000000000" pitchFamily="2" charset="0"/>
                <a:cs typeface="ADLaM Display" panose="02010000000000000000" pitchFamily="2" charset="0"/>
              </a:rPr>
              <a:t>은 모두 준수함</a:t>
            </a:r>
            <a:endParaRPr lang="en-US" altLang="ko-KR" sz="1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US" altLang="ko-KR" sz="1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n-US" altLang="ko-KR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</a:t>
            </a:r>
            <a:r>
              <a:rPr lang="ko-KR" altLang="en-US" sz="1400" dirty="0">
                <a:latin typeface="ADLaM Display" panose="02010000000000000000" pitchFamily="2" charset="0"/>
                <a:cs typeface="ADLaM Display" panose="02010000000000000000" pitchFamily="2" charset="0"/>
              </a:rPr>
              <a:t>그 사이에는 </a:t>
            </a:r>
            <a:r>
              <a:rPr lang="en-US" altLang="ko-KR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0.1</a:t>
            </a:r>
            <a:r>
              <a:rPr lang="ko-KR" altLang="en-US" sz="1400" dirty="0">
                <a:latin typeface="ADLaM Display" panose="02010000000000000000" pitchFamily="2" charset="0"/>
                <a:cs typeface="ADLaM Display" panose="02010000000000000000" pitchFamily="2" charset="0"/>
              </a:rPr>
              <a:t>정도의 수치</a:t>
            </a:r>
            <a:endParaRPr lang="en-US" altLang="ko-KR" sz="1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en-US" altLang="ko-KR" sz="1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en-US" altLang="ko-KR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- 2022-12-19</a:t>
            </a:r>
            <a:r>
              <a:rPr lang="ko-KR" altLang="en-US" sz="1400" dirty="0">
                <a:latin typeface="ADLaM Display" panose="02010000000000000000" pitchFamily="2" charset="0"/>
                <a:cs typeface="ADLaM Display" panose="02010000000000000000" pitchFamily="2" charset="0"/>
              </a:rPr>
              <a:t>에 감소되고 있어서</a:t>
            </a:r>
            <a:r>
              <a:rPr lang="en-US" altLang="ko-KR" sz="1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lang="ko-KR" altLang="en-US" sz="1400" dirty="0">
                <a:latin typeface="ADLaM Display" panose="02010000000000000000" pitchFamily="2" charset="0"/>
                <a:cs typeface="ADLaM Display" panose="02010000000000000000" pitchFamily="2" charset="0"/>
              </a:rPr>
              <a:t>그 다음 주차가 어떻게 될 지 보는 것도 필요</a:t>
            </a:r>
          </a:p>
        </p:txBody>
      </p:sp>
    </p:spTree>
    <p:extLst>
      <p:ext uri="{BB962C8B-B14F-4D97-AF65-F5344CB8AC3E}">
        <p14:creationId xmlns:p14="http://schemas.microsoft.com/office/powerpoint/2010/main" val="24037424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B6ED5-B94E-C1A4-E28D-C3AC4485A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0B76B8F-7075-6FEC-513F-5F2C0F06F48C}"/>
              </a:ext>
            </a:extLst>
          </p:cNvPr>
          <p:cNvSpPr txBox="1"/>
          <p:nvPr/>
        </p:nvSpPr>
        <p:spPr>
          <a:xfrm>
            <a:off x="166255" y="175491"/>
            <a:ext cx="10603345" cy="5005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800" b="1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Firebase </a:t>
            </a:r>
            <a:r>
              <a:rPr lang="ko-KR" altLang="en-US" sz="2800" b="1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함초롬바탕" panose="02030604000101010101" pitchFamily="18" charset="-127"/>
                <a:cs typeface="ADLaM Display" panose="02010000000000000000" pitchFamily="2" charset="0"/>
              </a:rPr>
              <a:t>앱 로그 기반 데이터 분석 </a:t>
            </a:r>
            <a:endParaRPr lang="en-US" altLang="ko-KR" sz="2800" b="1" kern="0" spc="0" dirty="0">
              <a:solidFill>
                <a:srgbClr val="000000"/>
              </a:solidFill>
              <a:effectLst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&lt;</a:t>
            </a:r>
            <a:r>
              <a:rPr lang="en-US" altLang="ko-KR" kern="0" dirty="0">
                <a:solidFill>
                  <a:srgbClr val="0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4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 Retain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유저 분류 분석</a:t>
            </a:r>
            <a:r>
              <a:rPr lang="en-US" altLang="ko-KR" kern="0" dirty="0">
                <a:solidFill>
                  <a:srgbClr val="0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&gt;</a:t>
            </a:r>
            <a:endParaRPr lang="ko-KR" altLang="en-US" sz="1800" kern="0" spc="0" dirty="0">
              <a:solidFill>
                <a:srgbClr val="000000"/>
              </a:solidFill>
              <a:effectLst/>
              <a:latin typeface="ADLaM Display" panose="02010000000000000000" pitchFamily="2" charset="0"/>
              <a:cs typeface="ADLaM Display" panose="02010000000000000000" pitchFamily="2" charset="0"/>
            </a:endParaRPr>
          </a:p>
          <a:p>
            <a:pPr algn="just" fontAlgn="base">
              <a:lnSpc>
                <a:spcPct val="160000"/>
              </a:lnSpc>
            </a:pPr>
            <a:endParaRPr lang="en-US" altLang="ko-KR" sz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유저를</a:t>
            </a:r>
            <a:endParaRPr lang="en-US" altLang="ko-KR" sz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신규유저</a:t>
            </a:r>
            <a:r>
              <a:rPr lang="en-US" altLang="ko-KR" sz="1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(New) : </a:t>
            </a:r>
            <a:r>
              <a:rPr lang="ko-KR" altLang="en-US" sz="1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제품을 처음 사용하는 유저</a:t>
            </a:r>
            <a:endParaRPr lang="en-US" altLang="ko-KR" sz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기존유저</a:t>
            </a:r>
            <a:r>
              <a:rPr lang="en-US" altLang="ko-KR" sz="1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(Current) : </a:t>
            </a:r>
            <a:r>
              <a:rPr lang="ko-KR" altLang="en-US" sz="1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제품을</a:t>
            </a:r>
            <a:r>
              <a:rPr lang="en-US" altLang="ko-KR" sz="1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ko-KR" altLang="en-US" sz="1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지속적으로 사용하는 유저</a:t>
            </a:r>
            <a:endParaRPr lang="en-US" altLang="ko-KR" sz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복귀유저</a:t>
            </a:r>
            <a:r>
              <a:rPr lang="en-US" altLang="ko-KR" sz="1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(Resurrected) : </a:t>
            </a:r>
            <a:r>
              <a:rPr lang="ko-KR" altLang="en-US" sz="1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과거에 사용 </a:t>
            </a:r>
            <a:r>
              <a:rPr lang="en-US" altLang="ko-KR" sz="1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-&gt; </a:t>
            </a:r>
            <a:r>
              <a:rPr lang="ko-KR" altLang="en-US" sz="1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비활성 </a:t>
            </a:r>
            <a:r>
              <a:rPr lang="en-US" altLang="ko-KR" sz="1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-&gt; </a:t>
            </a:r>
            <a:r>
              <a:rPr lang="ko-KR" altLang="en-US" sz="1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다시 제품을 사용한 유저</a:t>
            </a:r>
            <a:endParaRPr lang="en-US" altLang="ko-KR" sz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sz="1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휴면유저</a:t>
            </a:r>
            <a:r>
              <a:rPr lang="en-US" altLang="ko-KR" sz="1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(Dormant) : </a:t>
            </a:r>
            <a:r>
              <a:rPr lang="ko-KR" altLang="en-US" sz="1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일정 기간 제품을 사용하지 않은 비활성화 사용자</a:t>
            </a:r>
            <a:endParaRPr lang="en-US" altLang="ko-KR" sz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sz="1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4</a:t>
            </a:r>
            <a:r>
              <a:rPr lang="ko-KR" altLang="en-US" sz="1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가지 분류로 </a:t>
            </a:r>
            <a:r>
              <a:rPr lang="en-US" altLang="ko-KR" sz="1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type</a:t>
            </a:r>
            <a:r>
              <a:rPr lang="ko-KR" altLang="en-US" sz="1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을 설정해 보았습니다</a:t>
            </a:r>
            <a:r>
              <a:rPr lang="en-US" altLang="ko-KR" sz="1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pPr algn="just" fontAlgn="base">
              <a:lnSpc>
                <a:spcPct val="160000"/>
              </a:lnSpc>
            </a:pPr>
            <a:endParaRPr lang="en-US" altLang="ko-KR" kern="0" dirty="0">
              <a:solidFill>
                <a:srgbClr val="00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just" fontAlgn="base">
              <a:lnSpc>
                <a:spcPct val="160000"/>
              </a:lnSpc>
            </a:pPr>
            <a:endParaRPr lang="en-US" altLang="ko-KR" kern="0" dirty="0">
              <a:solidFill>
                <a:srgbClr val="00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rgbClr val="000000"/>
                </a:solidFill>
                <a:latin typeface="ADLaM Display" panose="02010000000000000000" pitchFamily="2" charset="0"/>
                <a:ea typeface="함초롬바탕" panose="02030604000101010101" pitchFamily="18" charset="-127"/>
                <a:cs typeface="ADLaM Display" panose="02010000000000000000" pitchFamily="2" charset="0"/>
              </a:rPr>
              <a:t>데이터 </a:t>
            </a:r>
            <a:r>
              <a:rPr lang="en-US" altLang="ko-KR" kern="0" dirty="0">
                <a:solidFill>
                  <a:srgbClr val="0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 2022-08-01 ~ 2023-08-03</a:t>
            </a:r>
            <a:endParaRPr lang="en-US" altLang="ko-KR" sz="1800" kern="0" spc="0" dirty="0">
              <a:solidFill>
                <a:srgbClr val="000000"/>
              </a:solidFill>
              <a:effectLst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just" fontAlgn="base">
              <a:lnSpc>
                <a:spcPct val="160000"/>
              </a:lnSpc>
            </a:pPr>
            <a:endParaRPr lang="ko-KR" altLang="en-US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3" name="그림 2" descr="텍스트, 번호, 스크린샷, 폰트이(가) 표시된 사진&#10;&#10;자동 생성된 설명">
            <a:extLst>
              <a:ext uri="{FF2B5EF4-FFF2-40B4-BE49-F238E27FC236}">
                <a16:creationId xmlns:a16="http://schemas.microsoft.com/office/drawing/2014/main" id="{E8441A2A-1981-D56D-E17D-FCF662F2AA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6291" y="1487498"/>
            <a:ext cx="6099454" cy="2659303"/>
          </a:xfrm>
          <a:prstGeom prst="rect">
            <a:avLst/>
          </a:prstGeom>
        </p:spPr>
      </p:pic>
      <p:pic>
        <p:nvPicPr>
          <p:cNvPr id="7" name="그림 6" descr="텍스트, 번호, 폰트, 영수증이(가) 표시된 사진&#10;&#10;자동 생성된 설명">
            <a:extLst>
              <a:ext uri="{FF2B5EF4-FFF2-40B4-BE49-F238E27FC236}">
                <a16:creationId xmlns:a16="http://schemas.microsoft.com/office/drawing/2014/main" id="{AA725442-DAB3-0D52-44C7-71B6307D4E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0201" y="4229984"/>
            <a:ext cx="6131634" cy="1863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8698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958D2-DF52-1843-4D05-C5CC13A2C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2AA6B57-0DDC-4D65-935A-B697C805AFB3}"/>
              </a:ext>
            </a:extLst>
          </p:cNvPr>
          <p:cNvSpPr txBox="1"/>
          <p:nvPr/>
        </p:nvSpPr>
        <p:spPr>
          <a:xfrm>
            <a:off x="166255" y="175491"/>
            <a:ext cx="11859490" cy="1501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800" b="1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Firebase </a:t>
            </a:r>
            <a:r>
              <a:rPr lang="ko-KR" altLang="en-US" sz="2800" b="1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함초롬바탕" panose="02030604000101010101" pitchFamily="18" charset="-127"/>
                <a:cs typeface="ADLaM Display" panose="02010000000000000000" pitchFamily="2" charset="0"/>
              </a:rPr>
              <a:t>앱 로그 기반 데이터 분석 </a:t>
            </a:r>
            <a:endParaRPr lang="en-US" altLang="ko-KR" sz="2800" b="1" kern="0" spc="0" dirty="0">
              <a:solidFill>
                <a:srgbClr val="000000"/>
              </a:solidFill>
              <a:effectLst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&lt;</a:t>
            </a:r>
            <a:r>
              <a:rPr lang="en-US" altLang="ko-KR" kern="0" dirty="0">
                <a:solidFill>
                  <a:srgbClr val="0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4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 Retain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유저 분류 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쿼리</a:t>
            </a:r>
            <a:r>
              <a:rPr lang="en-US" altLang="ko-KR" kern="0" dirty="0">
                <a:solidFill>
                  <a:srgbClr val="0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&gt;</a:t>
            </a:r>
            <a:endParaRPr lang="en-US" altLang="ko-KR" sz="1800" kern="0" spc="0" dirty="0">
              <a:solidFill>
                <a:srgbClr val="000000"/>
              </a:solidFill>
              <a:effectLst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ko-KR" altLang="en-US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5" name="그림 4" descr="텍스트, 스크린샷, 폰트, 번호이(가) 표시된 사진&#10;&#10;자동 생성된 설명">
            <a:extLst>
              <a:ext uri="{FF2B5EF4-FFF2-40B4-BE49-F238E27FC236}">
                <a16:creationId xmlns:a16="http://schemas.microsoft.com/office/drawing/2014/main" id="{651391BE-0A35-41E2-3952-18E251632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75491"/>
            <a:ext cx="5643801" cy="4664364"/>
          </a:xfrm>
          <a:prstGeom prst="rect">
            <a:avLst/>
          </a:prstGeom>
        </p:spPr>
      </p:pic>
      <p:pic>
        <p:nvPicPr>
          <p:cNvPr id="7" name="그림 6" descr="텍스트, 스크린샷, 폰트이(가) 표시된 사진&#10;&#10;자동 생성된 설명">
            <a:extLst>
              <a:ext uri="{FF2B5EF4-FFF2-40B4-BE49-F238E27FC236}">
                <a16:creationId xmlns:a16="http://schemas.microsoft.com/office/drawing/2014/main" id="{93E341D6-1555-9C00-3593-6FC719E35A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199" y="3763649"/>
            <a:ext cx="5596038" cy="2771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202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C65C8-9225-88EC-8A38-A6DE61288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221C7C9-3C8A-498E-14D3-34AD595C8BB9}"/>
              </a:ext>
            </a:extLst>
          </p:cNvPr>
          <p:cNvSpPr txBox="1"/>
          <p:nvPr/>
        </p:nvSpPr>
        <p:spPr>
          <a:xfrm>
            <a:off x="166255" y="175491"/>
            <a:ext cx="11859490" cy="1501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800" b="1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Firebase </a:t>
            </a:r>
            <a:r>
              <a:rPr lang="ko-KR" altLang="en-US" sz="2800" b="1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함초롬바탕" panose="02030604000101010101" pitchFamily="18" charset="-127"/>
                <a:cs typeface="ADLaM Display" panose="02010000000000000000" pitchFamily="2" charset="0"/>
              </a:rPr>
              <a:t>앱 로그 기반 데이터 분석 </a:t>
            </a:r>
            <a:endParaRPr lang="en-US" altLang="ko-KR" sz="2800" b="1" kern="0" spc="0" dirty="0">
              <a:solidFill>
                <a:srgbClr val="000000"/>
              </a:solidFill>
              <a:effectLst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&lt;</a:t>
            </a:r>
            <a:r>
              <a:rPr lang="en-US" altLang="ko-KR" kern="0" dirty="0">
                <a:solidFill>
                  <a:srgbClr val="0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4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 Retain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유저 분류 </a:t>
            </a:r>
            <a:r>
              <a:rPr lang="ko-KR" altLang="en-US" kern="0" dirty="0">
                <a:solidFill>
                  <a:srgbClr val="0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코호트 시각화 </a:t>
            </a:r>
            <a:r>
              <a:rPr lang="en-US" altLang="ko-KR" kern="0" dirty="0">
                <a:solidFill>
                  <a:srgbClr val="0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&amp; </a:t>
            </a:r>
            <a:r>
              <a:rPr lang="ko-KR" altLang="en-US" kern="0" dirty="0">
                <a:solidFill>
                  <a:srgbClr val="0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해석</a:t>
            </a:r>
            <a:r>
              <a:rPr lang="en-US" altLang="ko-KR" kern="0" dirty="0">
                <a:solidFill>
                  <a:srgbClr val="0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&gt;</a:t>
            </a:r>
            <a:endParaRPr lang="en-US" altLang="ko-KR" sz="1800" kern="0" spc="0" dirty="0">
              <a:solidFill>
                <a:srgbClr val="000000"/>
              </a:solidFill>
              <a:effectLst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ko-KR" altLang="en-US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C3080FB-9C6B-D495-EF83-4904BE7DA8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508" y="1482661"/>
            <a:ext cx="11240655" cy="7957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17CD8FB-C8E3-1974-2D3A-B9E42314DE68}"/>
              </a:ext>
            </a:extLst>
          </p:cNvPr>
          <p:cNvSpPr txBox="1"/>
          <p:nvPr/>
        </p:nvSpPr>
        <p:spPr>
          <a:xfrm>
            <a:off x="332508" y="2523831"/>
            <a:ext cx="102446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>
              <a:spcBef>
                <a:spcPts val="600"/>
              </a:spcBef>
              <a:spcAft>
                <a:spcPts val="600"/>
              </a:spcAft>
            </a:pP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2022-08-01 ~ 2023-08-03 </a:t>
            </a: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기간으로 설정하여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개인적인 의견으로 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Retain User</a:t>
            </a: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를 쪼개 보았습니다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pPr algn="l" fontAlgn="base">
              <a:spcBef>
                <a:spcPts val="600"/>
              </a:spcBef>
              <a:spcAft>
                <a:spcPts val="600"/>
              </a:spcAft>
            </a:pPr>
            <a:r>
              <a:rPr lang="ko-KR" altLang="en-US" sz="1200" b="0" i="0" dirty="0" err="1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배달어플은</a:t>
            </a: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 유저들의 사용 간격이 짧다고 생각하기 때문에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주의 주기로 </a:t>
            </a:r>
            <a:r>
              <a:rPr lang="ko-KR" altLang="en-US" sz="1200" b="0" i="0" dirty="0" err="1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리텐션으로</a:t>
            </a: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 설정했습니다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 </a:t>
            </a: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저는</a:t>
            </a:r>
          </a:p>
          <a:p>
            <a:pPr algn="l" fontAlgn="base">
              <a:spcBef>
                <a:spcPts val="600"/>
              </a:spcBef>
              <a:spcAft>
                <a:spcPts val="600"/>
              </a:spcAft>
            </a:pP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바로 전 주에 사용했고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그 다음주에 사용했다면 기존유저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(Current)</a:t>
            </a: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로 설정했습니다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pPr algn="l" fontAlgn="base">
              <a:spcBef>
                <a:spcPts val="600"/>
              </a:spcBef>
              <a:spcAft>
                <a:spcPts val="600"/>
              </a:spcAft>
            </a:pP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</a:t>
            </a: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주 이상 </a:t>
            </a:r>
            <a:r>
              <a:rPr lang="ko-KR" altLang="en-US" sz="1200" b="0" i="0" dirty="0" err="1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텀을</a:t>
            </a: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 두고 다시 사용했다면 복귀유저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(Resurrected)</a:t>
            </a: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로 설정했습니다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pPr algn="l" fontAlgn="base">
              <a:spcBef>
                <a:spcPts val="600"/>
              </a:spcBef>
              <a:spcAft>
                <a:spcPts val="600"/>
              </a:spcAft>
            </a:pP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처음 들어가고 사용하지 않았다면 휴면유저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(Dormant)</a:t>
            </a: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로 설정했습니다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pPr algn="l" fontAlgn="base">
              <a:spcBef>
                <a:spcPts val="600"/>
              </a:spcBef>
              <a:spcAft>
                <a:spcPts val="600"/>
              </a:spcAft>
            </a:pP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주차마다 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'</a:t>
            </a: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신규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/</a:t>
            </a: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기존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/</a:t>
            </a: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복귀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/</a:t>
            </a: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휴면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' </a:t>
            </a: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유저를 새로 계산하는 쿼리입니다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pPr algn="l" fontAlgn="base">
              <a:spcBef>
                <a:spcPts val="600"/>
              </a:spcBef>
              <a:spcAft>
                <a:spcPts val="600"/>
              </a:spcAft>
            </a:pP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0059549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6C333-3437-D285-21BB-C5A32FA47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D68C98-D367-D901-1B0F-2357CC56B335}"/>
              </a:ext>
            </a:extLst>
          </p:cNvPr>
          <p:cNvSpPr txBox="1"/>
          <p:nvPr/>
        </p:nvSpPr>
        <p:spPr>
          <a:xfrm>
            <a:off x="166255" y="175491"/>
            <a:ext cx="11859490" cy="1501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800" b="1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Firebase </a:t>
            </a:r>
            <a:r>
              <a:rPr lang="ko-KR" altLang="en-US" sz="2800" b="1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함초롬바탕" panose="02030604000101010101" pitchFamily="18" charset="-127"/>
                <a:cs typeface="ADLaM Display" panose="02010000000000000000" pitchFamily="2" charset="0"/>
              </a:rPr>
              <a:t>앱 로그 기반 데이터 분석 </a:t>
            </a:r>
            <a:endParaRPr lang="en-US" altLang="ko-KR" sz="2800" b="1" kern="0" spc="0" dirty="0">
              <a:solidFill>
                <a:srgbClr val="000000"/>
              </a:solidFill>
              <a:effectLst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&lt;</a:t>
            </a:r>
            <a:r>
              <a:rPr lang="en-US" altLang="ko-KR" kern="0" dirty="0">
                <a:solidFill>
                  <a:srgbClr val="0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4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 Retain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유저 분류 </a:t>
            </a:r>
            <a:r>
              <a:rPr lang="ko-KR" altLang="en-US" kern="0" dirty="0">
                <a:solidFill>
                  <a:srgbClr val="0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코호트 시각화 </a:t>
            </a:r>
            <a:r>
              <a:rPr lang="en-US" altLang="ko-KR" kern="0" dirty="0">
                <a:solidFill>
                  <a:srgbClr val="0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&amp; </a:t>
            </a:r>
            <a:r>
              <a:rPr lang="ko-KR" altLang="en-US" kern="0" dirty="0">
                <a:solidFill>
                  <a:srgbClr val="0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해석</a:t>
            </a:r>
            <a:r>
              <a:rPr lang="en-US" altLang="ko-KR" kern="0" dirty="0">
                <a:solidFill>
                  <a:srgbClr val="0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&gt;</a:t>
            </a:r>
            <a:endParaRPr lang="en-US" altLang="ko-KR" sz="1800" kern="0" spc="0" dirty="0">
              <a:solidFill>
                <a:srgbClr val="000000"/>
              </a:solidFill>
              <a:effectLst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ko-KR" altLang="en-US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BCD7ADC-0128-CE03-88A8-FAA6932902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508" y="1482661"/>
            <a:ext cx="11240655" cy="7957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1A44C1-FB6F-56C4-360B-8E78D5238559}"/>
              </a:ext>
            </a:extLst>
          </p:cNvPr>
          <p:cNvSpPr txBox="1"/>
          <p:nvPr/>
        </p:nvSpPr>
        <p:spPr>
          <a:xfrm>
            <a:off x="332508" y="2521805"/>
            <a:ext cx="10244604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>
              <a:spcBef>
                <a:spcPts val="600"/>
              </a:spcBef>
              <a:spcAft>
                <a:spcPts val="600"/>
              </a:spcAft>
            </a:pP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데이터를 살펴보면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</a:t>
            </a:r>
          </a:p>
          <a:p>
            <a:pPr algn="l" fontAlgn="base">
              <a:spcBef>
                <a:spcPts val="600"/>
              </a:spcBef>
              <a:spcAft>
                <a:spcPts val="600"/>
              </a:spcAft>
            </a:pP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1) </a:t>
            </a: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신규유저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(New) : </a:t>
            </a: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제품을 처음 사용하는 유저</a:t>
            </a:r>
          </a:p>
          <a:p>
            <a:pPr algn="l" fontAlgn="base">
              <a:spcBef>
                <a:spcPts val="600"/>
              </a:spcBef>
              <a:spcAft>
                <a:spcPts val="600"/>
              </a:spcAft>
            </a:pP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출시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(2022-08-01</a:t>
            </a: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을 출시기간으로 생각하면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)</a:t>
            </a: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로부터 현재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(2023-01-16 =&gt; 0803</a:t>
            </a: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으로 설정했지만 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0116</a:t>
            </a: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까지가 끝입니다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.)</a:t>
            </a: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까지의 신규유저 수의 변화를 살펴보겠습니다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pPr algn="l" fontAlgn="base">
              <a:spcBef>
                <a:spcPts val="600"/>
              </a:spcBef>
              <a:spcAft>
                <a:spcPts val="600"/>
              </a:spcAft>
            </a:pP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런칭부터 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10</a:t>
            </a: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주까지의 신규유저의 수는 주춤한 경우도 있지만 평균 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4~500</a:t>
            </a: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명 정도 증가했습니다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pPr algn="l" fontAlgn="base">
              <a:spcBef>
                <a:spcPts val="600"/>
              </a:spcBef>
              <a:spcAft>
                <a:spcPts val="600"/>
              </a:spcAft>
            </a:pP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하지만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11</a:t>
            </a: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주에 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4000</a:t>
            </a: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명 대에서 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3100</a:t>
            </a: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명으로 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900</a:t>
            </a: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명이 급감한 이후로 계속 하락세를 타고 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24</a:t>
            </a: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주차 현재 신규 가입자의 수는 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500</a:t>
            </a: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명 남짓하고 있습니다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pPr algn="l" fontAlgn="base">
              <a:spcBef>
                <a:spcPts val="600"/>
              </a:spcBef>
              <a:spcAft>
                <a:spcPts val="600"/>
              </a:spcAft>
            </a:pP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11</a:t>
            </a:r>
            <a:r>
              <a:rPr lang="ko-KR" altLang="en-US" sz="1200" b="0" i="0" dirty="0" err="1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주차부터의</a:t>
            </a: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 마케팅 효과는 빛을 보지 못하고 있는 것 같습니다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pPr algn="l" fontAlgn="base">
              <a:spcBef>
                <a:spcPts val="600"/>
              </a:spcBef>
              <a:spcAft>
                <a:spcPts val="600"/>
              </a:spcAft>
            </a:pP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 </a:t>
            </a:r>
          </a:p>
          <a:p>
            <a:pPr algn="l" fontAlgn="base">
              <a:spcBef>
                <a:spcPts val="600"/>
              </a:spcBef>
              <a:spcAft>
                <a:spcPts val="600"/>
              </a:spcAft>
            </a:pP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코호트 </a:t>
            </a:r>
            <a:r>
              <a:rPr lang="ko-KR" altLang="en-US" sz="1200" b="0" i="0" dirty="0" err="1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리텐션</a:t>
            </a: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 시각화를 보자면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</a:t>
            </a:r>
          </a:p>
          <a:p>
            <a:pPr algn="l" fontAlgn="base">
              <a:spcBef>
                <a:spcPts val="600"/>
              </a:spcBef>
              <a:spcAft>
                <a:spcPts val="600"/>
              </a:spcAft>
            </a:pP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2) </a:t>
            </a: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기존유저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(Current) : </a:t>
            </a: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제품을 지속적으로 사용하는 유저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</a:t>
            </a: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바로 전 주와 이번 주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)</a:t>
            </a:r>
          </a:p>
          <a:p>
            <a:pPr algn="l" fontAlgn="base">
              <a:spcBef>
                <a:spcPts val="600"/>
              </a:spcBef>
              <a:spcAft>
                <a:spcPts val="600"/>
              </a:spcAft>
            </a:pP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출시로부터 현재까지 줄곧 주차마다의 신규유저 대비 기존유저의 비율이 증가하고 있습니다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pPr algn="l" fontAlgn="base">
              <a:spcBef>
                <a:spcPts val="600"/>
              </a:spcBef>
              <a:spcAft>
                <a:spcPts val="600"/>
              </a:spcAft>
            </a:pP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특히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24</a:t>
            </a: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주차에 가입한 신규유저 대비 기존유저의 비율은 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76%</a:t>
            </a: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나 차지하고 있습니다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pPr algn="l" fontAlgn="base">
              <a:spcBef>
                <a:spcPts val="600"/>
              </a:spcBef>
              <a:spcAft>
                <a:spcPts val="600"/>
              </a:spcAft>
            </a:pP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시간이 흐름에 따라 점차 어플이 안정화되면서 신규유저들이 만족을 느끼는 비율이 늘어가고 있다고 보입니다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00282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AD98C-D092-AD8A-E525-6491EF6FD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B1C06E-BE2B-4F07-CD1F-96763D24342B}"/>
              </a:ext>
            </a:extLst>
          </p:cNvPr>
          <p:cNvSpPr txBox="1"/>
          <p:nvPr/>
        </p:nvSpPr>
        <p:spPr>
          <a:xfrm>
            <a:off x="166255" y="175491"/>
            <a:ext cx="11859490" cy="1501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2800" b="1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Firebase </a:t>
            </a:r>
            <a:r>
              <a:rPr lang="ko-KR" altLang="en-US" sz="2800" b="1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함초롬바탕" panose="02030604000101010101" pitchFamily="18" charset="-127"/>
                <a:cs typeface="ADLaM Display" panose="02010000000000000000" pitchFamily="2" charset="0"/>
              </a:rPr>
              <a:t>앱 로그 기반 데이터 분석 </a:t>
            </a:r>
            <a:endParaRPr lang="en-US" altLang="ko-KR" sz="2800" b="1" kern="0" spc="0" dirty="0">
              <a:solidFill>
                <a:srgbClr val="000000"/>
              </a:solidFill>
              <a:effectLst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algn="just" fontAlgn="base">
              <a:lnSpc>
                <a:spcPct val="160000"/>
              </a:lnSpc>
            </a:pP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&lt;</a:t>
            </a:r>
            <a:r>
              <a:rPr lang="en-US" altLang="ko-KR" kern="0" dirty="0">
                <a:solidFill>
                  <a:srgbClr val="0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4</a:t>
            </a:r>
            <a:r>
              <a:rPr lang="en-US" altLang="ko-KR" sz="18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 Retain</a:t>
            </a:r>
            <a:r>
              <a:rPr lang="ko-KR" altLang="en-US" sz="1800" kern="0" spc="0" dirty="0">
                <a:solidFill>
                  <a:srgbClr val="000000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유저 분류 </a:t>
            </a:r>
            <a:r>
              <a:rPr lang="ko-KR" altLang="en-US" kern="0" dirty="0">
                <a:solidFill>
                  <a:srgbClr val="0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코호트 시각화 </a:t>
            </a:r>
            <a:r>
              <a:rPr lang="en-US" altLang="ko-KR" kern="0" dirty="0">
                <a:solidFill>
                  <a:srgbClr val="0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&amp; </a:t>
            </a:r>
            <a:r>
              <a:rPr lang="ko-KR" altLang="en-US" kern="0" dirty="0">
                <a:solidFill>
                  <a:srgbClr val="0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해석</a:t>
            </a:r>
            <a:r>
              <a:rPr lang="en-US" altLang="ko-KR" kern="0" dirty="0">
                <a:solidFill>
                  <a:srgbClr val="00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&gt;</a:t>
            </a:r>
            <a:endParaRPr lang="en-US" altLang="ko-KR" sz="1800" kern="0" spc="0" dirty="0">
              <a:solidFill>
                <a:srgbClr val="000000"/>
              </a:solidFill>
              <a:effectLst/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endParaRPr lang="ko-KR" altLang="en-US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E6F9351-E0B6-6CF2-A18B-F0B0F56807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508" y="1482661"/>
            <a:ext cx="11240655" cy="7957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13D51D8-97C7-EC2A-8AF2-53122A9FB780}"/>
              </a:ext>
            </a:extLst>
          </p:cNvPr>
          <p:cNvSpPr txBox="1"/>
          <p:nvPr/>
        </p:nvSpPr>
        <p:spPr>
          <a:xfrm>
            <a:off x="332508" y="2506789"/>
            <a:ext cx="1024460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base">
              <a:spcBef>
                <a:spcPts val="600"/>
              </a:spcBef>
              <a:spcAft>
                <a:spcPts val="600"/>
              </a:spcAft>
            </a:pP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3) </a:t>
            </a: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복귀유저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(Resurrected) : </a:t>
            </a: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과거에 사용 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-&gt; </a:t>
            </a: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비활성화 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-&gt; </a:t>
            </a: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다시 제품을 사용한 유저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(2</a:t>
            </a: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주 후 복귀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)</a:t>
            </a:r>
          </a:p>
          <a:p>
            <a:pPr algn="l" fontAlgn="base">
              <a:spcBef>
                <a:spcPts val="600"/>
              </a:spcBef>
              <a:spcAft>
                <a:spcPts val="600"/>
              </a:spcAft>
            </a:pP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복귀유저는 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12</a:t>
            </a: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주차를 분기로 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13</a:t>
            </a: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주차부터는 신규가입자보다 복귀유저의 수가 많아지기 시작했습니다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pPr algn="l" fontAlgn="base">
              <a:spcBef>
                <a:spcPts val="600"/>
              </a:spcBef>
              <a:spcAft>
                <a:spcPts val="600"/>
              </a:spcAft>
            </a:pP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24</a:t>
            </a: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주차에는 신규유저 대비 복귀유저는 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6</a:t>
            </a: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배가 많습니다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pPr algn="l" fontAlgn="base">
              <a:spcBef>
                <a:spcPts val="600"/>
              </a:spcBef>
              <a:spcAft>
                <a:spcPts val="600"/>
              </a:spcAft>
            </a:pP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복귀유저가 기존유저로 안정되는 현황을 추출할 수 있는 쿼리는 조금 더 연구해 보겠습니다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pPr algn="l" fontAlgn="base">
              <a:spcBef>
                <a:spcPts val="600"/>
              </a:spcBef>
              <a:spcAft>
                <a:spcPts val="600"/>
              </a:spcAft>
            </a:pP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 </a:t>
            </a:r>
          </a:p>
          <a:p>
            <a:pPr algn="l" fontAlgn="base">
              <a:spcBef>
                <a:spcPts val="600"/>
              </a:spcBef>
              <a:spcAft>
                <a:spcPts val="600"/>
              </a:spcAft>
            </a:pP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4) </a:t>
            </a: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휴면유저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(Dormant) : </a:t>
            </a: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일정기간 제품을 사용하지 않은 비활성화 사용자</a:t>
            </a:r>
          </a:p>
          <a:p>
            <a:pPr algn="l" fontAlgn="base">
              <a:spcBef>
                <a:spcPts val="600"/>
              </a:spcBef>
              <a:spcAft>
                <a:spcPts val="600"/>
              </a:spcAft>
            </a:pP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신규유저 대비 휴면유저는 꾸준히 늘어가고 있습니다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(</a:t>
            </a: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휴면유저가 누적됨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).</a:t>
            </a:r>
          </a:p>
          <a:p>
            <a:pPr algn="l" fontAlgn="base">
              <a:spcBef>
                <a:spcPts val="600"/>
              </a:spcBef>
              <a:spcAft>
                <a:spcPts val="600"/>
              </a:spcAft>
            </a:pP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24</a:t>
            </a: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주차 신규가입자의 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5.7</a:t>
            </a:r>
            <a:r>
              <a:rPr lang="ko-KR" altLang="en-US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cs typeface="ADLaM Display" panose="02010000000000000000" pitchFamily="2" charset="0"/>
              </a:rPr>
              <a:t>배가 휴면유저 입니다</a:t>
            </a:r>
            <a:r>
              <a:rPr lang="en-US" altLang="ko-KR" sz="1200" b="0" i="0" dirty="0">
                <a:solidFill>
                  <a:srgbClr val="24292F"/>
                </a:solidFill>
                <a:effectLst/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697553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1796</TotalTime>
  <Words>1120</Words>
  <Application>Microsoft Office PowerPoint</Application>
  <PresentationFormat>와이드스크린</PresentationFormat>
  <Paragraphs>150</Paragraphs>
  <Slides>18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2" baseType="lpstr">
      <vt:lpstr>맑은 고딕</vt:lpstr>
      <vt:lpstr>ADLaM Display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송인승(2020146018)</dc:creator>
  <cp:lastModifiedBy>송인승(2020146018)</cp:lastModifiedBy>
  <cp:revision>9</cp:revision>
  <dcterms:created xsi:type="dcterms:W3CDTF">2024-10-30T21:45:55Z</dcterms:created>
  <dcterms:modified xsi:type="dcterms:W3CDTF">2024-11-23T01:37:34Z</dcterms:modified>
</cp:coreProperties>
</file>